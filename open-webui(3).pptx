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8757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959870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56431013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180918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1662781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608255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353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7569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INTRO — 1 min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Open WebUI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interface web pour LLMs, installée chez vous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Self-hosted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vos donnees ne quittent pas votre machine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LLM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modele IA entraine sur du texte (GPT-4, Llama, Mistral...)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Open-source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code public, gratuit, licence MIT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Accroche : "ChatGPT installe chez vous, gratuit, prive"</a:t>
            </a:r>
            <a:endParaRPr lang="fr-FR"/>
          </a:p>
        </p:txBody>
      </p:sp>
      <p:sp>
        <p:nvSpPr>
          <p:cNvPr id="254515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68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125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PRESENTATION — 2 min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ChatGPT-like UI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meme look que ChatGPT, markdown, streaming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Docker-ready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1 commande = installe. Pas de config manuelle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Multi-modeles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brancher Llama local OU OpenAI/Anthropic avec 1 clic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Plugins Python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ajouter des outils (meteo, calcul...) sans toucher au code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PWA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s'installe sur mobile comme une vraie app, depuis le navigateur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Chiffre cle : +90 000 etoiles GitHub, lance jan 2024</a:t>
            </a:r>
            <a:endParaRPr lang="fr-FR"/>
          </a:p>
        </p:txBody>
      </p:sp>
      <p:sp>
        <p:nvSpPr>
          <p:cNvPr id="1048227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369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95172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INSTALLATION — 3 min (demo live possible)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Docker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emballe l'appli dans une boite isolee, marche partout</a:t>
            </a:r>
            <a:endParaRPr lang="fr-FR"/>
          </a:p>
          <a:p>
            <a:pPr marL="342900" indent="-342900">
              <a:defRPr/>
            </a:pPr>
            <a:r>
              <a:rPr lang="fr-FR" sz="9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-p 3000:8080</a:t>
            </a:r>
            <a:r>
              <a:rPr lang="fr-FR" sz="900" i="1">
                <a:solidFill>
                  <a:srgbClr val="475569"/>
                </a:solidFill>
                <a:latin typeface="Calibri"/>
              </a:rPr>
              <a:t> = redirection port : acces via localhost:3000</a:t>
            </a:r>
            <a:endParaRPr lang="fr-FR"/>
          </a:p>
          <a:p>
            <a:pPr marL="342900" indent="-342900">
              <a:defRPr/>
            </a:pPr>
            <a:r>
              <a:rPr lang="fr-FR" sz="9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-v open-webui:/app/...</a:t>
            </a:r>
            <a:r>
              <a:rPr lang="fr-FR" sz="900" i="1">
                <a:solidFill>
                  <a:srgbClr val="475569"/>
                </a:solidFill>
                <a:latin typeface="Calibri"/>
              </a:rPr>
              <a:t> = volume = stockage persistant (donnees gardees si conteneur supprime)</a:t>
            </a:r>
            <a:endParaRPr lang="fr-FR"/>
          </a:p>
          <a:p>
            <a:pPr marL="342900" indent="-342900">
              <a:defRPr/>
            </a:pPr>
            <a:r>
              <a:rPr lang="fr-FR" sz="9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--restart always</a:t>
            </a:r>
            <a:r>
              <a:rPr lang="fr-FR" sz="900" i="1">
                <a:solidFill>
                  <a:srgbClr val="475569"/>
                </a:solidFill>
                <a:latin typeface="Calibri"/>
              </a:rPr>
              <a:t> = redemarrage auto si la machine reboot</a:t>
            </a:r>
            <a:endParaRPr lang="fr-FR"/>
          </a:p>
          <a:p>
            <a:pPr marL="342900" indent="-342900">
              <a:defRPr/>
            </a:pPr>
            <a:r>
              <a:rPr lang="fr-FR" sz="9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--add-host=host.docker.internal</a:t>
            </a:r>
            <a:r>
              <a:rPr lang="fr-FR" sz="900" i="1">
                <a:solidFill>
                  <a:srgbClr val="475569"/>
                </a:solidFill>
                <a:latin typeface="Calibri"/>
              </a:rPr>
              <a:t> = permet a Docker de voir Ollama sur la machine hote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pip install open-webui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installation Python, pour devs, Ollama separement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Kubernetes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systeme qui gere 100s de conteneurs sur plusieurs serveurs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Helm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gestionnaire de paquets pour Kubernetes (comme pip mais pour K8s)</a:t>
            </a:r>
            <a:endParaRPr lang="fr-FR"/>
          </a:p>
          <a:p>
            <a:pPr marL="342900" indent="-342900">
              <a:defRPr/>
            </a:pPr>
            <a:r>
              <a:rPr lang="fr-FR" sz="9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helm install</a:t>
            </a:r>
            <a:r>
              <a:rPr lang="fr-FR" sz="900" i="1">
                <a:solidFill>
                  <a:srgbClr val="475569"/>
                </a:solidFill>
                <a:latin typeface="Calibri"/>
              </a:rPr>
              <a:t> = deploie l'appli configuree sur le cluster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Demo : lancer la commande Docker, ouvrir localhost:3000, creer compte admin</a:t>
            </a:r>
            <a:endParaRPr lang="fr-FR"/>
          </a:p>
        </p:txBody>
      </p:sp>
      <p:sp>
        <p:nvSpPr>
          <p:cNvPr id="1173633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022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7641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ARCHITECTURE — 3 min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SvelteKit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frontend = ce que vous voyez dans le navigateur (boutons, chat...)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FastAPI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backend Python = la cuisine qui recoit vos messages et interroge le LLM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WebSockets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connexion permanente = les mots arrivent en temps reel (streaming)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RBAC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systeme de roles : Admin (tout faire) / User (chatter seulement)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SQLite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base de donnees fichier (simple) | </a:t>
            </a: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PostgreSQL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base serveur (prod)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ChromaDB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base vectorielle = stocke le "sens" des documents pour le RAG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Pipelines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scripts Python intercales entre user et LLM (filtrer, traduire, enrichir)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Ollama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moteur LLM local, telecharge et execute les modeles sur votre machine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Analogie : SvelteKit=salle, FastAPI=cuisine, LLM=chef, ChromaDB=index recettes</a:t>
            </a:r>
            <a:endParaRPr lang="fr-FR"/>
          </a:p>
        </p:txBody>
      </p:sp>
      <p:sp>
        <p:nvSpPr>
          <p:cNvPr id="2085668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716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181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MODELES — 2 min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Modele local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tourne sur votre machine via Ollama, donnees privees, gratuit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xB (milliards)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taille du modele. 7B = 7 milliards de parametres internes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RAM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memoire de travail. Regle : 1B de params ~= 2 Go RAM (en Q4)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Q4 / Q8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quantisation = compression du modele. Q4 = 8x plus leger, leg. perte qualite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GPU/VRAM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carte graphique, x10-100 plus rapide. VRAM = memoire du GPU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nomic-embed-text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modele d'embeddings = obligatoire pour le RAG (pas fait pour chatter)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API Cloud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OpenAI/Anthropic en distant. Puissant mais payant + donnees exterieures</a:t>
            </a:r>
            <a:endParaRPr lang="fr-FR"/>
          </a:p>
          <a:p>
            <a:pPr>
              <a:defRPr/>
            </a:pPr>
            <a:endParaRPr lang="fr-FR"/>
          </a:p>
        </p:txBody>
      </p:sp>
      <p:sp>
        <p:nvSpPr>
          <p:cNvPr id="541874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7735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1133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CAS D'USAGE — 4 min (demo live)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Generation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creer du texte a partir de zero (email, code, article...)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Streaming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les mots s'affichent en direct, token par token (~3/4 d'un mot)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Resume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uploader un PDF + demander les points cles = synthese instant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Q&amp;A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poser des questions = le modele synthetise (pas comme Google)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System Prompt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instructions cachees qui conditionne le comportement du modele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Context window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quantite de texte que le modele voit a la fois (~128k tokens = ~96k mots)</a:t>
            </a:r>
            <a:endParaRPr lang="fr-FR"/>
          </a:p>
          <a:p>
            <a:pPr>
              <a:defRPr/>
            </a:pPr>
            <a:endParaRPr lang="fr-FR"/>
          </a:p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DEMO PROMPTS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Email : "Redige un email pro pour reporter une reunion sprint, formel, 3 para, fr"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Resumer : uploader PDF -&gt; "Resume en 5 points cles"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Q&amp;A : "Explique @staticmethod vs @classmethod Python avec exemples"</a:t>
            </a:r>
            <a:endParaRPr lang="fr-FR"/>
          </a:p>
        </p:txBody>
      </p:sp>
      <p:sp>
        <p:nvSpPr>
          <p:cNvPr id="7366107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1684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4582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RAG — 5 min (slide CLEE)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RAG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Retrieval-Augmented Generation = IA qui lit VOS documents pour repondre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Chunking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decouper un doc en petits morceaux (~500-1000 mots)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Chunk size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taille d'un morceau en tokens. Trop petit = perd contexte. Trop grand = depasse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Chunk overlap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chevauchement entre morceaux = evite de couper une idee en 2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Indexing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transformer chaque morceau en vecteur numerique et le stocker dans ChromaDB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Embedding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liste de nombres qui encode le SENS d'un texte ("chien" proche de "canin")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Recherche semantique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trouve par SENS, pas par mots exacts (comme CTRL+F mais intelligent)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Top-K chunks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K=5 meilleurs passages envoyes au LLM comme contexte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Reranking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2e modele qui reclasse les resultats par pertinence reelle (plus precis)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Hybrid search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combine BM25 (mots-cles) + dense (semantique) = plus robuste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BM25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algo classique par frequence de mots (comme Google 2000)</a:t>
            </a:r>
            <a:endParaRPr lang="fr-FR"/>
          </a:p>
          <a:p>
            <a:pPr>
              <a:defRPr/>
            </a:pPr>
            <a:endParaRPr lang="fr-FR"/>
          </a:p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BASES VECTORIELLES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ChromaDB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defaut Open WebUI, fichier local, simple, &lt;1M docs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PGVector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extension PostgreSQL = vecteurs + donnees classiques dans 1 seule base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Pinecone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cloud payant, tres performant a grande echelle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Weaviate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</a:t>
            </a: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Milvus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</a:t>
            </a: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Qdrant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open-source, prod, milliards de vecteurs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OpenSearch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moteur de recherche (fork Elasticsearch) + support vecteurs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Demo : Workspace &gt; Knowledge &gt; + &gt; uploader PDF &gt; chat &gt; # &gt; poser question</a:t>
            </a:r>
            <a:endParaRPr lang="fr-FR"/>
          </a:p>
        </p:txBody>
      </p:sp>
      <p:sp>
        <p:nvSpPr>
          <p:cNvPr id="1375933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027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28327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FONCTIONS AVANCEES — 4 min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RBAC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Role-Based Access Control = Admin (tout) / User (chatter)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OAuth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connexion via compte existant (Google, GitHub...)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LDAP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annuaire entreprise (Active Directory) = login Windows reutilise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SSO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Single Sign-On = 1 connexion le matin = acces a tous les services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System Prompt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instructions cachees = cree un assistant metier personnalise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Pipelines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middleware Python = intercepte messages, filtre, traduit, route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Code Interpreter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sandbox Python = le modele EXECUTE du code en live dans le chat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Vision/Multimodal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analyser images avec LLaVA/Moondream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TTS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Text-to-Speech = lire les reponses a voix haute (ElevenLabs, Kokoro local)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SearXNG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moteur de recherche web auto-heberge, sans traquage, dans votre docker-compose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Raccourcis : / = prompts | # = knowledge base | @ = modele | Escape = stopper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Demo : Workspace &gt; Functions &gt; coller demo-functions.py (meteo)</a:t>
            </a:r>
            <a:endParaRPr lang="fr-FR"/>
          </a:p>
        </p:txBody>
      </p:sp>
      <p:sp>
        <p:nvSpPr>
          <p:cNvPr id="87449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121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185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COMPARAISON — 3 min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LibreChat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open-source, agents avances, installation complexe, RAG basique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AnythingLLM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RAG excellent, workspaces par equipe, pas d'app mobile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ChatGPT.com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interface parfaite, app native, mais 20$/mois + donnees chez OpenAI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Multimodal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plusieurs types de donnees en entree (texte + images + audio)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PWA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app web installable sur mobile depuis navigateur (pas l'App Store)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App native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vraie app iOS/Android = plus fluide, notifications, acces capteurs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Vendor lock-in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dependance fournisseur = prisonnier si prix montent ou service ferme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Open-source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code public = pas de backdoor, survit si l'entreprise ferme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Self-hosted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oblige pour RGPD, secret pro, sante, defense</a:t>
            </a:r>
            <a:endParaRPr lang="fr-FR"/>
          </a:p>
          <a:p>
            <a:pPr>
              <a:defRPr/>
            </a:pPr>
            <a:endParaRPr lang="fr-FR"/>
          </a:p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QUAND CHOISIR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Donnees sensibles + equipe tech -&gt; Open WebUI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RAG + non-techs -&gt; AnythingLLM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Pas de contrainte confidentialite -&gt; ChatGPT Teams</a:t>
            </a:r>
            <a:endParaRPr lang="fr-FR"/>
          </a:p>
        </p:txBody>
      </p:sp>
      <p:sp>
        <p:nvSpPr>
          <p:cNvPr id="1756285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4224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87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LIMITES — 2 min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RAM/VRAM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memoire requise. Llama 70B Q4 = ~45 Go RAM ou GPU 40 Go VRAM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tok/sec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vitesse de generation. CPU seul = 2-5 tok/sec (lent). GPU = 80+ (fluide)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CPU offloading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partie en GPU, partie en RAM CPU = possible mais x10 plus lent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Reverse proxy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Nginx/Caddy devant Open WebUI = HTTPS + securite. Obligatoire en prod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HTTPS/TLS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chiffrement. Sans ca, mots de passe lisibles sur le reseau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JWT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jeton d'auth signe avec WEBUI_SECRET_KEY. Cle faible = faille securite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Rate Limiting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max N requetes/min. Protege contre brute-force et abus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WAF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Web App Firewall = protege contre injections SQL, XSS. Non integre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Breaking changes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mises a jour cassent compatibilite. Solution : epingler version :0.5.x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ChromaDB limite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ralentit &gt;1M de chunks. Solution : migrer vers Milvus/Qdrant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Solution legere demo : llama3.2:3b = 2 Go RAM, rapide, suffisant</a:t>
            </a:r>
            <a:endParaRPr lang="fr-FR"/>
          </a:p>
        </p:txBody>
      </p:sp>
      <p:sp>
        <p:nvSpPr>
          <p:cNvPr id="9309454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15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734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CONCLUSION + Q&amp;A — 2 min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1. Installation triviale (1 commande Docker)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2. RAG avance (vos documents, interroges en prive)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3. Plugins Python (etendre sans limites)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4. Zero vendor lock-in (changer de modele en 1 clic)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5. Donnees souveraines (rien ne sort de votre infra)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R&amp;D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Recherche &amp; Developpement = tester des modeles, prototyper sans cout de licence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Donnees souveraines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stockees chez vous, sous votre controle exclusif</a:t>
            </a:r>
            <a:endParaRPr lang="fr-FR"/>
          </a:p>
          <a:p>
            <a:pPr>
              <a:defRPr/>
            </a:pPr>
            <a:r>
              <a:rPr lang="fr-FR" sz="1000" b="1">
                <a:solidFill>
                  <a:srgbClr val="1E293B"/>
                </a:solidFill>
                <a:highlight>
                  <a:srgbClr val="FEF08A"/>
                </a:highlight>
                <a:latin typeface="Calibri"/>
              </a:rPr>
              <a:t>RGPD</a:t>
            </a:r>
            <a:r>
              <a:rPr lang="fr-FR" sz="1000">
                <a:solidFill>
                  <a:srgbClr val="1E293B"/>
                </a:solidFill>
                <a:latin typeface="Calibri"/>
              </a:rPr>
              <a:t> = reglement europeen protection donnees. Self-hosted = conformite naturelle</a:t>
            </a:r>
            <a:endParaRPr lang="fr-FR"/>
          </a:p>
          <a:p>
            <a:pPr>
              <a:defRPr/>
            </a:pPr>
            <a:endParaRPr lang="fr-FR"/>
          </a:p>
          <a:p>
            <a:pPr>
              <a:spcBef>
                <a:spcPts val="600"/>
              </a:spcBef>
              <a:defRPr/>
            </a:pPr>
            <a:r>
              <a:rPr lang="fr-FR" sz="1100" b="1">
                <a:solidFill>
                  <a:srgbClr val="0D9488"/>
                </a:solidFill>
                <a:latin typeface="Calibri"/>
              </a:rPr>
              <a:t>Q&amp;A CLASSIQUES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"Donnees sures ?" -&gt; Ollama local = rien ne sort. API cloud = va chez eux.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"Mac M1/M2/M3 ?" -&gt; Parfaitement supporte via Metal (Apple Silicon natif)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"Offline ?" -&gt; Oui, une fois modeles telecharges, zero internet requis</a:t>
            </a:r>
            <a:endParaRPr lang="fr-FR"/>
          </a:p>
          <a:p>
            <a:pPr>
              <a:defRPr/>
            </a:pPr>
            <a:r>
              <a:rPr lang="fr-FR" sz="1000">
                <a:solidFill>
                  <a:srgbClr val="1E293B"/>
                </a:solidFill>
                <a:latin typeface="Calibri"/>
              </a:rPr>
              <a:t>"Vs ChatGPT ?" -&gt; RAG prive + 0 EUR + controle total vs 20$/mois + donnees envoyees</a:t>
            </a:r>
            <a:endParaRPr lang="fr-FR"/>
          </a:p>
        </p:txBody>
      </p:sp>
      <p:sp>
        <p:nvSpPr>
          <p:cNvPr id="11129739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266826" name="Shape 0"/>
          <p:cNvSpPr/>
          <p:nvPr/>
        </p:nvSpPr>
        <p:spPr bwMode="auto"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1540717" name="Shape 1"/>
          <p:cNvSpPr/>
          <p:nvPr/>
        </p:nvSpPr>
        <p:spPr bwMode="auto">
          <a:xfrm>
            <a:off x="6858000" y="-73152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3193471" name="Shape 2"/>
          <p:cNvSpPr/>
          <p:nvPr/>
        </p:nvSpPr>
        <p:spPr bwMode="auto">
          <a:xfrm>
            <a:off x="7498080" y="2926080"/>
            <a:ext cx="2011680" cy="2011680"/>
          </a:xfrm>
          <a:prstGeom prst="ellipse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pic>
        <p:nvPicPr>
          <p:cNvPr id="164628639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680960" y="502920"/>
            <a:ext cx="1097280" cy="1097280"/>
          </a:xfrm>
          <a:prstGeom prst="rect">
            <a:avLst/>
          </a:prstGeom>
        </p:spPr>
      </p:pic>
      <p:sp>
        <p:nvSpPr>
          <p:cNvPr id="1805523640" name="Text 3"/>
          <p:cNvSpPr/>
          <p:nvPr/>
        </p:nvSpPr>
        <p:spPr bwMode="auto">
          <a:xfrm>
            <a:off x="594360" y="914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WebUI</a:t>
            </a:r>
            <a:endParaRPr lang="en-US" sz="5200"/>
          </a:p>
        </p:txBody>
      </p:sp>
      <p:sp>
        <p:nvSpPr>
          <p:cNvPr id="382678858" name="Text 4"/>
          <p:cNvSpPr/>
          <p:nvPr/>
        </p:nvSpPr>
        <p:spPr bwMode="auto">
          <a:xfrm>
            <a:off x="594360" y="2011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Use Cases, Architecture &amp; Comparaison</a:t>
            </a:r>
            <a:endParaRPr lang="en-US" sz="2000"/>
          </a:p>
        </p:txBody>
      </p:sp>
      <p:sp>
        <p:nvSpPr>
          <p:cNvPr id="897336505" name="Shape 5"/>
          <p:cNvSpPr/>
          <p:nvPr/>
        </p:nvSpPr>
        <p:spPr bwMode="auto">
          <a:xfrm>
            <a:off x="594360" y="2697480"/>
            <a:ext cx="5029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85021043" name="Text 6"/>
          <p:cNvSpPr/>
          <p:nvPr/>
        </p:nvSpPr>
        <p:spPr bwMode="auto">
          <a:xfrm>
            <a:off x="594360" y="2880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Interface Web pour modèles LLM open-source — self-hosted &amp; extensible</a:t>
            </a:r>
            <a:endParaRPr lang="en-US" sz="1300"/>
          </a:p>
        </p:txBody>
      </p:sp>
      <p:sp>
        <p:nvSpPr>
          <p:cNvPr id="2099047759" name="Shape 7"/>
          <p:cNvSpPr/>
          <p:nvPr/>
        </p:nvSpPr>
        <p:spPr bwMode="auto">
          <a:xfrm>
            <a:off x="594360" y="4069080"/>
            <a:ext cx="148132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35014421" name="Text 8"/>
          <p:cNvSpPr/>
          <p:nvPr/>
        </p:nvSpPr>
        <p:spPr bwMode="auto">
          <a:xfrm>
            <a:off x="594360" y="40690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Installation</a:t>
            </a:r>
            <a:endParaRPr lang="en-US" sz="1000"/>
          </a:p>
        </p:txBody>
      </p:sp>
      <p:sp>
        <p:nvSpPr>
          <p:cNvPr id="1704436902" name="Shape 9"/>
          <p:cNvSpPr/>
          <p:nvPr/>
        </p:nvSpPr>
        <p:spPr bwMode="auto">
          <a:xfrm>
            <a:off x="2221992" y="4069080"/>
            <a:ext cx="148132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8259370" name="Text 10"/>
          <p:cNvSpPr/>
          <p:nvPr/>
        </p:nvSpPr>
        <p:spPr bwMode="auto">
          <a:xfrm>
            <a:off x="2221992" y="40690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Architecture</a:t>
            </a:r>
            <a:endParaRPr lang="en-US" sz="1000"/>
          </a:p>
        </p:txBody>
      </p:sp>
      <p:sp>
        <p:nvSpPr>
          <p:cNvPr id="458749361" name="Shape 11"/>
          <p:cNvSpPr/>
          <p:nvPr/>
        </p:nvSpPr>
        <p:spPr bwMode="auto">
          <a:xfrm>
            <a:off x="3849624" y="4069080"/>
            <a:ext cx="148132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07711901" name="Text 12"/>
          <p:cNvSpPr/>
          <p:nvPr/>
        </p:nvSpPr>
        <p:spPr bwMode="auto">
          <a:xfrm>
            <a:off x="3849624" y="40690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RAG</a:t>
            </a:r>
            <a:endParaRPr lang="en-US" sz="1000"/>
          </a:p>
        </p:txBody>
      </p:sp>
      <p:sp>
        <p:nvSpPr>
          <p:cNvPr id="83715476" name="Shape 13"/>
          <p:cNvSpPr/>
          <p:nvPr/>
        </p:nvSpPr>
        <p:spPr bwMode="auto">
          <a:xfrm>
            <a:off x="5477255" y="4069080"/>
            <a:ext cx="148132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40228353" name="Text 14"/>
          <p:cNvSpPr/>
          <p:nvPr/>
        </p:nvSpPr>
        <p:spPr bwMode="auto">
          <a:xfrm>
            <a:off x="5477255" y="40690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Plugins</a:t>
            </a:r>
            <a:endParaRPr lang="en-US" sz="1000"/>
          </a:p>
        </p:txBody>
      </p:sp>
      <p:sp>
        <p:nvSpPr>
          <p:cNvPr id="860137654" name="Shape 15"/>
          <p:cNvSpPr/>
          <p:nvPr/>
        </p:nvSpPr>
        <p:spPr bwMode="auto">
          <a:xfrm>
            <a:off x="7104888" y="4069080"/>
            <a:ext cx="148132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30233942" name="Text 16"/>
          <p:cNvSpPr/>
          <p:nvPr/>
        </p:nvSpPr>
        <p:spPr bwMode="auto">
          <a:xfrm>
            <a:off x="7104888" y="40690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Comparaison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961043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7006091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Qu'est-ce qu'Open WebUI ?</a:t>
            </a:r>
            <a:endParaRPr lang="en-US" sz="2600"/>
          </a:p>
        </p:txBody>
      </p:sp>
      <p:sp>
        <p:nvSpPr>
          <p:cNvPr id="2010515960" name="Shape 2"/>
          <p:cNvSpPr/>
          <p:nvPr/>
        </p:nvSpPr>
        <p:spPr bwMode="auto">
          <a:xfrm>
            <a:off x="274320" y="1024128"/>
            <a:ext cx="859536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518392243" name="Text 3"/>
          <p:cNvSpPr/>
          <p:nvPr/>
        </p:nvSpPr>
        <p:spPr bwMode="auto">
          <a:xfrm>
            <a:off x="457200" y="1069848"/>
            <a:ext cx="8229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Interface web auto-hébergée, extensible et riche en fonctionnalités, pensée pour interagir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avec des LLMs locaux ou distants — sans dépendance cloud obligatoire.</a:t>
            </a:r>
            <a:endParaRPr lang="en-US" sz="1400"/>
          </a:p>
        </p:txBody>
      </p:sp>
      <p:sp>
        <p:nvSpPr>
          <p:cNvPr id="1917213491" name="Shape 4"/>
          <p:cNvSpPr/>
          <p:nvPr/>
        </p:nvSpPr>
        <p:spPr bwMode="auto">
          <a:xfrm>
            <a:off x="274320" y="2377440"/>
            <a:ext cx="2011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28507999" name="Shape 5"/>
          <p:cNvSpPr/>
          <p:nvPr/>
        </p:nvSpPr>
        <p:spPr bwMode="auto">
          <a:xfrm>
            <a:off x="960120" y="2487168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1713832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4128" y="2551176"/>
            <a:ext cx="530352" cy="530352"/>
          </a:xfrm>
          <a:prstGeom prst="rect">
            <a:avLst/>
          </a:prstGeom>
        </p:spPr>
      </p:pic>
      <p:sp>
        <p:nvSpPr>
          <p:cNvPr id="695842105" name="Text 6"/>
          <p:cNvSpPr/>
          <p:nvPr/>
        </p:nvSpPr>
        <p:spPr bwMode="auto">
          <a:xfrm>
            <a:off x="274320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ChatGPT-like UI</a:t>
            </a:r>
            <a:endParaRPr lang="en-US" sz="1100"/>
          </a:p>
        </p:txBody>
      </p:sp>
      <p:sp>
        <p:nvSpPr>
          <p:cNvPr id="945468859" name="Text 7"/>
          <p:cNvSpPr/>
          <p:nvPr/>
        </p:nvSpPr>
        <p:spPr bwMode="auto">
          <a:xfrm>
            <a:off x="274320" y="3566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Interface conversationnelle intuitive, markdown, code highlight</a:t>
            </a:r>
            <a:endParaRPr lang="en-US" sz="950"/>
          </a:p>
        </p:txBody>
      </p:sp>
      <p:sp>
        <p:nvSpPr>
          <p:cNvPr id="1898372216" name="Shape 8"/>
          <p:cNvSpPr/>
          <p:nvPr/>
        </p:nvSpPr>
        <p:spPr bwMode="auto">
          <a:xfrm>
            <a:off x="2450592" y="2377440"/>
            <a:ext cx="2011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83746502" name="Shape 9"/>
          <p:cNvSpPr/>
          <p:nvPr/>
        </p:nvSpPr>
        <p:spPr bwMode="auto">
          <a:xfrm>
            <a:off x="3136392" y="2487168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7635588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00400" y="2551176"/>
            <a:ext cx="530352" cy="530352"/>
          </a:xfrm>
          <a:prstGeom prst="rect">
            <a:avLst/>
          </a:prstGeom>
        </p:spPr>
      </p:pic>
      <p:sp>
        <p:nvSpPr>
          <p:cNvPr id="1062479586" name="Text 10"/>
          <p:cNvSpPr/>
          <p:nvPr/>
        </p:nvSpPr>
        <p:spPr bwMode="auto">
          <a:xfrm>
            <a:off x="2450592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Docker-ready</a:t>
            </a:r>
            <a:endParaRPr lang="en-US" sz="1100"/>
          </a:p>
        </p:txBody>
      </p:sp>
      <p:sp>
        <p:nvSpPr>
          <p:cNvPr id="1366486216" name="Text 11"/>
          <p:cNvSpPr/>
          <p:nvPr/>
        </p:nvSpPr>
        <p:spPr bwMode="auto">
          <a:xfrm>
            <a:off x="2450592" y="3566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Déploiement en une commande, image officielle maintenue</a:t>
            </a:r>
            <a:endParaRPr lang="en-US" sz="950"/>
          </a:p>
        </p:txBody>
      </p:sp>
      <p:sp>
        <p:nvSpPr>
          <p:cNvPr id="280585932" name="Shape 12"/>
          <p:cNvSpPr/>
          <p:nvPr/>
        </p:nvSpPr>
        <p:spPr bwMode="auto">
          <a:xfrm>
            <a:off x="4626864" y="2377440"/>
            <a:ext cx="2011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74166761" name="Shape 13"/>
          <p:cNvSpPr/>
          <p:nvPr/>
        </p:nvSpPr>
        <p:spPr bwMode="auto">
          <a:xfrm>
            <a:off x="5312664" y="2487168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7775612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376672" y="2551176"/>
            <a:ext cx="530352" cy="530352"/>
          </a:xfrm>
          <a:prstGeom prst="rect">
            <a:avLst/>
          </a:prstGeom>
        </p:spPr>
      </p:pic>
      <p:sp>
        <p:nvSpPr>
          <p:cNvPr id="1567065901" name="Text 14"/>
          <p:cNvSpPr/>
          <p:nvPr/>
        </p:nvSpPr>
        <p:spPr bwMode="auto">
          <a:xfrm>
            <a:off x="4626864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Multi-modèles</a:t>
            </a:r>
            <a:endParaRPr lang="en-US" sz="1100"/>
          </a:p>
        </p:txBody>
      </p:sp>
      <p:sp>
        <p:nvSpPr>
          <p:cNvPr id="234952077" name="Text 15"/>
          <p:cNvSpPr/>
          <p:nvPr/>
        </p:nvSpPr>
        <p:spPr bwMode="auto">
          <a:xfrm>
            <a:off x="4626864" y="3566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Ollama, OpenAI, Anthropic, Azure, Groq…</a:t>
            </a:r>
            <a:endParaRPr lang="en-US" sz="950"/>
          </a:p>
        </p:txBody>
      </p:sp>
      <p:sp>
        <p:nvSpPr>
          <p:cNvPr id="893610123" name="Shape 16"/>
          <p:cNvSpPr/>
          <p:nvPr/>
        </p:nvSpPr>
        <p:spPr bwMode="auto">
          <a:xfrm>
            <a:off x="6803136" y="2377440"/>
            <a:ext cx="2011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09921035" name="Shape 17"/>
          <p:cNvSpPr/>
          <p:nvPr/>
        </p:nvSpPr>
        <p:spPr bwMode="auto">
          <a:xfrm>
            <a:off x="7488936" y="2487168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33138279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552944" y="2551176"/>
            <a:ext cx="530352" cy="530352"/>
          </a:xfrm>
          <a:prstGeom prst="rect">
            <a:avLst/>
          </a:prstGeom>
        </p:spPr>
      </p:pic>
      <p:sp>
        <p:nvSpPr>
          <p:cNvPr id="1514811680" name="Text 18"/>
          <p:cNvSpPr/>
          <p:nvPr/>
        </p:nvSpPr>
        <p:spPr bwMode="auto">
          <a:xfrm>
            <a:off x="6803136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Extensible</a:t>
            </a:r>
            <a:endParaRPr lang="en-US" sz="1100"/>
          </a:p>
        </p:txBody>
      </p:sp>
      <p:sp>
        <p:nvSpPr>
          <p:cNvPr id="497039658" name="Text 19"/>
          <p:cNvSpPr/>
          <p:nvPr/>
        </p:nvSpPr>
        <p:spPr bwMode="auto">
          <a:xfrm>
            <a:off x="6803136" y="3566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Plugins Python, pipelines, fonctions personnalisées</a:t>
            </a:r>
            <a:endParaRPr lang="en-US" sz="950"/>
          </a:p>
        </p:txBody>
      </p:sp>
      <p:sp>
        <p:nvSpPr>
          <p:cNvPr id="614177450" name="Shape 20"/>
          <p:cNvSpPr/>
          <p:nvPr/>
        </p:nvSpPr>
        <p:spPr bwMode="auto">
          <a:xfrm>
            <a:off x="2926080" y="4828032"/>
            <a:ext cx="329184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98229273" name="Text 21"/>
          <p:cNvSpPr/>
          <p:nvPr/>
        </p:nvSpPr>
        <p:spPr bwMode="auto">
          <a:xfrm>
            <a:off x="2926080" y="4828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github.com/open-webui/open-webui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293373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533094509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Installation</a:t>
            </a:r>
            <a:endParaRPr lang="en-US" sz="2600"/>
          </a:p>
        </p:txBody>
      </p:sp>
      <p:sp>
        <p:nvSpPr>
          <p:cNvPr id="583702237" name="Shape 2"/>
          <p:cNvSpPr/>
          <p:nvPr/>
        </p:nvSpPr>
        <p:spPr bwMode="auto">
          <a:xfrm>
            <a:off x="274320" y="1097280"/>
            <a:ext cx="8595360" cy="1152144"/>
          </a:xfrm>
          <a:prstGeom prst="rect">
            <a:avLst/>
          </a:prstGeom>
          <a:solidFill>
            <a:srgbClr val="0D1A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0141044" name="Shape 3"/>
          <p:cNvSpPr/>
          <p:nvPr/>
        </p:nvSpPr>
        <p:spPr bwMode="auto">
          <a:xfrm>
            <a:off x="274320" y="1097280"/>
            <a:ext cx="73152" cy="11521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95184944" name="Text 4"/>
          <p:cNvSpPr/>
          <p:nvPr/>
        </p:nvSpPr>
        <p:spPr bwMode="auto">
          <a:xfrm>
            <a:off x="475488" y="11612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 Docker (recommandé)</a:t>
            </a:r>
            <a:endParaRPr lang="en-US" sz="1200"/>
          </a:p>
        </p:txBody>
      </p:sp>
      <p:sp>
        <p:nvSpPr>
          <p:cNvPr id="705191678" name="Text 5"/>
          <p:cNvSpPr/>
          <p:nvPr/>
        </p:nvSpPr>
        <p:spPr bwMode="auto">
          <a:xfrm>
            <a:off x="475488" y="1481328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docker run -d -p 3000:8080 \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  --add-host=host.docker.internal:host-gateway \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  -v open-webui:/app/backend/data \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  --name open-webui \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  ghcr.io/open-webui/open-webui:main</a:t>
            </a:r>
            <a:endParaRPr lang="en-US" sz="900"/>
          </a:p>
        </p:txBody>
      </p:sp>
      <p:sp>
        <p:nvSpPr>
          <p:cNvPr id="326180341" name="Text 6"/>
          <p:cNvSpPr/>
          <p:nvPr/>
        </p:nvSpPr>
        <p:spPr bwMode="auto">
          <a:xfrm>
            <a:off x="7178039" y="1188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▸ Inclut Ollama intégré en option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→ port 3000 → localhost:3000</a:t>
            </a:r>
            <a:endParaRPr lang="en-US" sz="850"/>
          </a:p>
        </p:txBody>
      </p:sp>
      <p:sp>
        <p:nvSpPr>
          <p:cNvPr id="1162267744" name="Shape 7"/>
          <p:cNvSpPr/>
          <p:nvPr/>
        </p:nvSpPr>
        <p:spPr bwMode="auto">
          <a:xfrm>
            <a:off x="274320" y="2395728"/>
            <a:ext cx="8595360" cy="1152144"/>
          </a:xfrm>
          <a:prstGeom prst="rect">
            <a:avLst/>
          </a:prstGeom>
          <a:solidFill>
            <a:srgbClr val="0D1A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3009912" name="Shape 8"/>
          <p:cNvSpPr/>
          <p:nvPr/>
        </p:nvSpPr>
        <p:spPr bwMode="auto">
          <a:xfrm>
            <a:off x="274320" y="2395728"/>
            <a:ext cx="73152" cy="11521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98570791" name="Text 9"/>
          <p:cNvSpPr/>
          <p:nvPr/>
        </p:nvSpPr>
        <p:spPr bwMode="auto">
          <a:xfrm>
            <a:off x="475488" y="2459735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pip (Python 3.11+)</a:t>
            </a:r>
            <a:endParaRPr lang="en-US" sz="1200"/>
          </a:p>
        </p:txBody>
      </p:sp>
      <p:sp>
        <p:nvSpPr>
          <p:cNvPr id="1697321232" name="Text 10"/>
          <p:cNvSpPr/>
          <p:nvPr/>
        </p:nvSpPr>
        <p:spPr bwMode="auto">
          <a:xfrm>
            <a:off x="475488" y="2779776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pip install open-webui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open-webui serve</a:t>
            </a:r>
            <a:endParaRPr lang="en-US" sz="900"/>
          </a:p>
        </p:txBody>
      </p:sp>
      <p:sp>
        <p:nvSpPr>
          <p:cNvPr id="2136103209" name="Text 11"/>
          <p:cNvSpPr/>
          <p:nvPr/>
        </p:nvSpPr>
        <p:spPr bwMode="auto">
          <a:xfrm>
            <a:off x="7178039" y="248716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▸ Accès via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http://localhost:8080</a:t>
            </a:r>
            <a:endParaRPr lang="en-US" sz="850"/>
          </a:p>
        </p:txBody>
      </p:sp>
      <p:sp>
        <p:nvSpPr>
          <p:cNvPr id="517114139" name="Shape 12"/>
          <p:cNvSpPr/>
          <p:nvPr/>
        </p:nvSpPr>
        <p:spPr bwMode="auto">
          <a:xfrm>
            <a:off x="274320" y="3694176"/>
            <a:ext cx="8595360" cy="1152144"/>
          </a:xfrm>
          <a:prstGeom prst="rect">
            <a:avLst/>
          </a:prstGeom>
          <a:solidFill>
            <a:srgbClr val="0D1A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19687306" name="Shape 13"/>
          <p:cNvSpPr/>
          <p:nvPr/>
        </p:nvSpPr>
        <p:spPr bwMode="auto">
          <a:xfrm>
            <a:off x="274320" y="3694176"/>
            <a:ext cx="73152" cy="11521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47274672" name="Text 14"/>
          <p:cNvSpPr/>
          <p:nvPr/>
        </p:nvSpPr>
        <p:spPr bwMode="auto">
          <a:xfrm>
            <a:off x="475488" y="37581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Kubernetes / Helm</a:t>
            </a:r>
            <a:endParaRPr lang="en-US" sz="1200"/>
          </a:p>
        </p:txBody>
      </p:sp>
      <p:sp>
        <p:nvSpPr>
          <p:cNvPr id="518038155" name="Text 15"/>
          <p:cNvSpPr/>
          <p:nvPr/>
        </p:nvSpPr>
        <p:spPr bwMode="auto">
          <a:xfrm>
            <a:off x="475488" y="4078224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helm repo add open-webui https://helm.openwebui.com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helm install open-webui open-webui/open-webui</a:t>
            </a:r>
            <a:endParaRPr lang="en-US" sz="900"/>
          </a:p>
        </p:txBody>
      </p:sp>
      <p:sp>
        <p:nvSpPr>
          <p:cNvPr id="60842974" name="Text 16"/>
          <p:cNvSpPr/>
          <p:nvPr/>
        </p:nvSpPr>
        <p:spPr bwMode="auto">
          <a:xfrm>
            <a:off x="7178039" y="37856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▸ Multi-utilisateurs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et haute dispo</a:t>
            </a:r>
            <a:endParaRPr lang="en-US" sz="850"/>
          </a:p>
        </p:txBody>
      </p:sp>
      <p:sp>
        <p:nvSpPr>
          <p:cNvPr id="1947014427" name="Text 17"/>
          <p:cNvSpPr/>
          <p:nvPr/>
        </p:nvSpPr>
        <p:spPr bwMode="auto"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Prérequis : Docker ≥ 24  •  8 Go RAM recommandés  •  GPU optionnel (CUDA/Metal/ROCm)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885413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22745116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Architecture</a:t>
            </a:r>
            <a:endParaRPr lang="en-US" sz="2600"/>
          </a:p>
        </p:txBody>
      </p:sp>
      <p:sp>
        <p:nvSpPr>
          <p:cNvPr id="1855536788" name="Shape 2"/>
          <p:cNvSpPr/>
          <p:nvPr/>
        </p:nvSpPr>
        <p:spPr bwMode="auto">
          <a:xfrm>
            <a:off x="228600" y="1143000"/>
            <a:ext cx="18288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59953579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5528" y="1207008"/>
            <a:ext cx="475488" cy="475488"/>
          </a:xfrm>
          <a:prstGeom prst="rect">
            <a:avLst/>
          </a:prstGeom>
        </p:spPr>
      </p:pic>
      <p:sp>
        <p:nvSpPr>
          <p:cNvPr id="1978031042" name="Text 3"/>
          <p:cNvSpPr/>
          <p:nvPr/>
        </p:nvSpPr>
        <p:spPr bwMode="auto">
          <a:xfrm>
            <a:off x="228600" y="168249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Navigateur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SvelteKit / PWA</a:t>
            </a:r>
            <a:endParaRPr lang="en-US" sz="900"/>
          </a:p>
        </p:txBody>
      </p:sp>
      <p:sp>
        <p:nvSpPr>
          <p:cNvPr id="1256448165" name="Shape 4"/>
          <p:cNvSpPr/>
          <p:nvPr/>
        </p:nvSpPr>
        <p:spPr bwMode="auto">
          <a:xfrm>
            <a:off x="2057400" y="1737360"/>
            <a:ext cx="5943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59133994" name="Text 5"/>
          <p:cNvSpPr/>
          <p:nvPr/>
        </p:nvSpPr>
        <p:spPr bwMode="auto">
          <a:xfrm>
            <a:off x="1920240" y="14813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HTTP/WS</a:t>
            </a:r>
            <a:endParaRPr lang="en-US" sz="750"/>
          </a:p>
        </p:txBody>
      </p:sp>
      <p:sp>
        <p:nvSpPr>
          <p:cNvPr id="1812613825" name="Shape 6"/>
          <p:cNvSpPr/>
          <p:nvPr/>
        </p:nvSpPr>
        <p:spPr bwMode="auto">
          <a:xfrm>
            <a:off x="2651760" y="960120"/>
            <a:ext cx="2148840" cy="150875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algn="ctr">
              <a:defRPr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8620147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182112" y="1024128"/>
            <a:ext cx="475488" cy="475488"/>
          </a:xfrm>
          <a:prstGeom prst="rect">
            <a:avLst/>
          </a:prstGeom>
        </p:spPr>
      </p:pic>
      <p:sp>
        <p:nvSpPr>
          <p:cNvPr id="1043891496" name="Text 7"/>
          <p:cNvSpPr/>
          <p:nvPr/>
        </p:nvSpPr>
        <p:spPr bwMode="auto">
          <a:xfrm>
            <a:off x="2651760" y="1499616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Backend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FastAPI (Python)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WebSockets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 / RBAC</a:t>
            </a:r>
            <a:endParaRPr lang="en-US" sz="900"/>
          </a:p>
        </p:txBody>
      </p:sp>
      <p:sp>
        <p:nvSpPr>
          <p:cNvPr id="1083429333" name="Shape 8"/>
          <p:cNvSpPr/>
          <p:nvPr/>
        </p:nvSpPr>
        <p:spPr bwMode="auto">
          <a:xfrm>
            <a:off x="4800600" y="1737360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9768807" name="Text 9"/>
          <p:cNvSpPr/>
          <p:nvPr/>
        </p:nvSpPr>
        <p:spPr bwMode="auto">
          <a:xfrm>
            <a:off x="4663440" y="14813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API REST</a:t>
            </a:r>
            <a:endParaRPr lang="en-US" sz="750"/>
          </a:p>
        </p:txBody>
      </p:sp>
      <p:sp>
        <p:nvSpPr>
          <p:cNvPr id="451672172" name="Shape 10"/>
          <p:cNvSpPr/>
          <p:nvPr/>
        </p:nvSpPr>
        <p:spPr bwMode="auto">
          <a:xfrm>
            <a:off x="5303520" y="914400"/>
            <a:ext cx="3566160" cy="3017519"/>
          </a:xfrm>
          <a:prstGeom prst="rect">
            <a:avLst/>
          </a:prstGeom>
          <a:solidFill>
            <a:srgbClr val="F1F5F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46028032" name="Text 11"/>
          <p:cNvSpPr/>
          <p:nvPr/>
        </p:nvSpPr>
        <p:spPr bwMode="auto">
          <a:xfrm>
            <a:off x="530352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Moteurs LLM</a:t>
            </a:r>
            <a:endParaRPr lang="en-US" sz="1100"/>
          </a:p>
        </p:txBody>
      </p:sp>
      <p:sp>
        <p:nvSpPr>
          <p:cNvPr id="1855100236" name="Shape 12"/>
          <p:cNvSpPr/>
          <p:nvPr/>
        </p:nvSpPr>
        <p:spPr bwMode="auto">
          <a:xfrm>
            <a:off x="5440680" y="1353312"/>
            <a:ext cx="329184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21177723" name="Text 13"/>
          <p:cNvSpPr/>
          <p:nvPr/>
        </p:nvSpPr>
        <p:spPr bwMode="auto">
          <a:xfrm>
            <a:off x="5440680" y="1353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🦙  Ollama (local — Llama, Mistral…)</a:t>
            </a:r>
            <a:endParaRPr lang="en-US" sz="950"/>
          </a:p>
        </p:txBody>
      </p:sp>
      <p:sp>
        <p:nvSpPr>
          <p:cNvPr id="739923418" name="Shape 14"/>
          <p:cNvSpPr/>
          <p:nvPr/>
        </p:nvSpPr>
        <p:spPr bwMode="auto">
          <a:xfrm>
            <a:off x="5440680" y="1947671"/>
            <a:ext cx="3291840" cy="502920"/>
          </a:xfrm>
          <a:prstGeom prst="rect">
            <a:avLst/>
          </a:prstGeom>
          <a:solidFill>
            <a:srgbClr val="0D547A"/>
          </a:solidFill>
          <a:ln w="12700">
            <a:solidFill>
              <a:srgbClr val="0D547A"/>
            </a:solidFill>
            <a:prstDash val="solid"/>
          </a:ln>
        </p:spPr>
      </p:sp>
      <p:sp>
        <p:nvSpPr>
          <p:cNvPr id="1451936423" name="Text 15"/>
          <p:cNvSpPr/>
          <p:nvPr/>
        </p:nvSpPr>
        <p:spPr bwMode="auto">
          <a:xfrm>
            <a:off x="5440680" y="1947671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☁️  OpenAI / Azure GPT</a:t>
            </a:r>
            <a:endParaRPr lang="en-US" sz="950"/>
          </a:p>
        </p:txBody>
      </p:sp>
      <p:sp>
        <p:nvSpPr>
          <p:cNvPr id="236508172" name="Shape 16"/>
          <p:cNvSpPr/>
          <p:nvPr/>
        </p:nvSpPr>
        <p:spPr bwMode="auto">
          <a:xfrm>
            <a:off x="5440680" y="2542032"/>
            <a:ext cx="3291840" cy="502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435388" name="Text 17"/>
          <p:cNvSpPr/>
          <p:nvPr/>
        </p:nvSpPr>
        <p:spPr bwMode="auto">
          <a:xfrm>
            <a:off x="5440680" y="2542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🤖  Anthropic Claude</a:t>
            </a:r>
            <a:endParaRPr lang="en-US" sz="950"/>
          </a:p>
        </p:txBody>
      </p:sp>
      <p:sp>
        <p:nvSpPr>
          <p:cNvPr id="202434378" name="Shape 18"/>
          <p:cNvSpPr/>
          <p:nvPr/>
        </p:nvSpPr>
        <p:spPr bwMode="auto">
          <a:xfrm>
            <a:off x="5440680" y="3136392"/>
            <a:ext cx="3291840" cy="5029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17839144" name="Text 19"/>
          <p:cNvSpPr/>
          <p:nvPr/>
        </p:nvSpPr>
        <p:spPr bwMode="auto">
          <a:xfrm>
            <a:off x="5440680" y="3136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🔌  API OpenAI-compatible</a:t>
            </a:r>
            <a:endParaRPr lang="en-US" sz="950"/>
          </a:p>
        </p:txBody>
      </p:sp>
      <p:sp>
        <p:nvSpPr>
          <p:cNvPr id="451059561" name="Shape 20"/>
          <p:cNvSpPr/>
          <p:nvPr/>
        </p:nvSpPr>
        <p:spPr bwMode="auto">
          <a:xfrm>
            <a:off x="228600" y="2606040"/>
            <a:ext cx="1828800" cy="10972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982705878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95528" y="2679192"/>
            <a:ext cx="438912" cy="438912"/>
          </a:xfrm>
          <a:prstGeom prst="rect">
            <a:avLst/>
          </a:prstGeom>
        </p:spPr>
      </p:pic>
      <p:sp>
        <p:nvSpPr>
          <p:cNvPr id="1887701390" name="Text 21"/>
          <p:cNvSpPr/>
          <p:nvPr/>
        </p:nvSpPr>
        <p:spPr bwMode="auto">
          <a:xfrm>
            <a:off x="228600" y="31181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SQLite / PG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 ChromaDB</a:t>
            </a:r>
            <a:endParaRPr lang="en-US" sz="900"/>
          </a:p>
        </p:txBody>
      </p:sp>
      <p:sp>
        <p:nvSpPr>
          <p:cNvPr id="536911067" name="Shape 22"/>
          <p:cNvSpPr/>
          <p:nvPr/>
        </p:nvSpPr>
        <p:spPr bwMode="auto">
          <a:xfrm>
            <a:off x="2057400" y="3154680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693458395" name="Shape 23"/>
          <p:cNvSpPr/>
          <p:nvPr/>
        </p:nvSpPr>
        <p:spPr bwMode="auto">
          <a:xfrm>
            <a:off x="2651760" y="2468880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52516124" name="Shape 24"/>
          <p:cNvSpPr/>
          <p:nvPr/>
        </p:nvSpPr>
        <p:spPr bwMode="auto">
          <a:xfrm>
            <a:off x="2651760" y="2697480"/>
            <a:ext cx="2148840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611385665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172968" y="2743200"/>
            <a:ext cx="438912" cy="438912"/>
          </a:xfrm>
          <a:prstGeom prst="rect">
            <a:avLst/>
          </a:prstGeom>
        </p:spPr>
      </p:pic>
      <p:sp>
        <p:nvSpPr>
          <p:cNvPr id="198275322" name="Text 25"/>
          <p:cNvSpPr/>
          <p:nvPr/>
        </p:nvSpPr>
        <p:spPr bwMode="auto">
          <a:xfrm>
            <a:off x="2651760" y="318211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Pipelines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(middleware Python)</a:t>
            </a:r>
            <a:endParaRPr lang="en-US" sz="900"/>
          </a:p>
        </p:txBody>
      </p:sp>
      <p:sp>
        <p:nvSpPr>
          <p:cNvPr id="1158227436" name="Shape 26"/>
          <p:cNvSpPr/>
          <p:nvPr/>
        </p:nvSpPr>
        <p:spPr bwMode="auto">
          <a:xfrm>
            <a:off x="3721608" y="246888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66431761" name="Text 27"/>
          <p:cNvSpPr/>
          <p:nvPr/>
        </p:nvSpPr>
        <p:spPr bwMode="auto"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Frontend SvelteKit · Backend FastAPI · Stockage SQLite/PG + ChromaDB · Pipelines Python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810554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42566458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Choix des Modèles</a:t>
            </a:r>
            <a:endParaRPr lang="en-US" sz="2600"/>
          </a:p>
        </p:txBody>
      </p:sp>
      <p:sp>
        <p:nvSpPr>
          <p:cNvPr id="297668079" name="Shape 2"/>
          <p:cNvSpPr/>
          <p:nvPr/>
        </p:nvSpPr>
        <p:spPr bwMode="auto">
          <a:xfrm>
            <a:off x="228600" y="1051560"/>
            <a:ext cx="27889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64792248" name="Text 3"/>
          <p:cNvSpPr/>
          <p:nvPr/>
        </p:nvSpPr>
        <p:spPr bwMode="auto">
          <a:xfrm>
            <a:off x="228600" y="105156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Modèles Locaux (Ollama)</a:t>
            </a:r>
            <a:endParaRPr lang="en-US" sz="1100"/>
          </a:p>
        </p:txBody>
      </p:sp>
      <p:sp>
        <p:nvSpPr>
          <p:cNvPr id="492717698" name="Shape 4"/>
          <p:cNvSpPr/>
          <p:nvPr/>
        </p:nvSpPr>
        <p:spPr bwMode="auto">
          <a:xfrm>
            <a:off x="228600" y="1490472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687212040" name="Shape 5"/>
          <p:cNvSpPr/>
          <p:nvPr/>
        </p:nvSpPr>
        <p:spPr bwMode="auto">
          <a:xfrm>
            <a:off x="365760" y="160934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54126617" name="Text 6"/>
          <p:cNvSpPr/>
          <p:nvPr/>
        </p:nvSpPr>
        <p:spPr bwMode="auto">
          <a:xfrm>
            <a:off x="576072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llama3.3, llama3.2, mistral 7B</a:t>
            </a:r>
            <a:endParaRPr lang="en-US" sz="1000"/>
          </a:p>
        </p:txBody>
      </p:sp>
      <p:sp>
        <p:nvSpPr>
          <p:cNvPr id="1195033826" name="Shape 7"/>
          <p:cNvSpPr/>
          <p:nvPr/>
        </p:nvSpPr>
        <p:spPr bwMode="auto">
          <a:xfrm>
            <a:off x="365760" y="213969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34411978" name="Text 8"/>
          <p:cNvSpPr/>
          <p:nvPr/>
        </p:nvSpPr>
        <p:spPr bwMode="auto">
          <a:xfrm>
            <a:off x="576072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gemma3, phi4, qwen2.5</a:t>
            </a:r>
            <a:endParaRPr lang="en-US" sz="1000"/>
          </a:p>
        </p:txBody>
      </p:sp>
      <p:sp>
        <p:nvSpPr>
          <p:cNvPr id="778096653" name="Shape 9"/>
          <p:cNvSpPr/>
          <p:nvPr/>
        </p:nvSpPr>
        <p:spPr bwMode="auto">
          <a:xfrm>
            <a:off x="365760" y="267004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73187758" name="Text 10"/>
          <p:cNvSpPr/>
          <p:nvPr/>
        </p:nvSpPr>
        <p:spPr bwMode="auto">
          <a:xfrm>
            <a:off x="576072" y="26151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deepseek-r1, codegemma</a:t>
            </a:r>
            <a:endParaRPr lang="en-US" sz="1000"/>
          </a:p>
        </p:txBody>
      </p:sp>
      <p:sp>
        <p:nvSpPr>
          <p:cNvPr id="1523355155" name="Shape 11"/>
          <p:cNvSpPr/>
          <p:nvPr/>
        </p:nvSpPr>
        <p:spPr bwMode="auto">
          <a:xfrm>
            <a:off x="365760" y="320040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9991625" name="Text 12"/>
          <p:cNvSpPr/>
          <p:nvPr/>
        </p:nvSpPr>
        <p:spPr bwMode="auto">
          <a:xfrm>
            <a:off x="576072" y="3145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nomic-embed-text (RAG)</a:t>
            </a:r>
            <a:endParaRPr lang="en-US" sz="1000"/>
          </a:p>
        </p:txBody>
      </p:sp>
      <p:sp>
        <p:nvSpPr>
          <p:cNvPr id="245024548" name="Shape 13"/>
          <p:cNvSpPr/>
          <p:nvPr/>
        </p:nvSpPr>
        <p:spPr bwMode="auto">
          <a:xfrm>
            <a:off x="3136392" y="1051560"/>
            <a:ext cx="2788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0487270" name="Text 14"/>
          <p:cNvSpPr/>
          <p:nvPr/>
        </p:nvSpPr>
        <p:spPr bwMode="auto">
          <a:xfrm>
            <a:off x="3136392" y="105156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Cloud</a:t>
            </a:r>
            <a:endParaRPr lang="en-US" sz="1100"/>
          </a:p>
        </p:txBody>
      </p:sp>
      <p:sp>
        <p:nvSpPr>
          <p:cNvPr id="1978682044" name="Shape 15"/>
          <p:cNvSpPr/>
          <p:nvPr/>
        </p:nvSpPr>
        <p:spPr bwMode="auto">
          <a:xfrm>
            <a:off x="3136392" y="1490472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73127492" name="Shape 16"/>
          <p:cNvSpPr/>
          <p:nvPr/>
        </p:nvSpPr>
        <p:spPr bwMode="auto">
          <a:xfrm>
            <a:off x="3273552" y="160934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37939811" name="Text 17"/>
          <p:cNvSpPr/>
          <p:nvPr/>
        </p:nvSpPr>
        <p:spPr bwMode="auto">
          <a:xfrm>
            <a:off x="3483864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OpenAI GPT-4o, o1, o3</a:t>
            </a:r>
            <a:endParaRPr lang="en-US" sz="1000"/>
          </a:p>
        </p:txBody>
      </p:sp>
      <p:sp>
        <p:nvSpPr>
          <p:cNvPr id="1123930195" name="Shape 18"/>
          <p:cNvSpPr/>
          <p:nvPr/>
        </p:nvSpPr>
        <p:spPr bwMode="auto">
          <a:xfrm>
            <a:off x="3273552" y="213969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98341979" name="Text 19"/>
          <p:cNvSpPr/>
          <p:nvPr/>
        </p:nvSpPr>
        <p:spPr bwMode="auto">
          <a:xfrm>
            <a:off x="3483864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Claude 3.5 Sonnet / Opus</a:t>
            </a:r>
            <a:endParaRPr lang="en-US" sz="1000"/>
          </a:p>
        </p:txBody>
      </p:sp>
      <p:sp>
        <p:nvSpPr>
          <p:cNvPr id="1559441111" name="Shape 20"/>
          <p:cNvSpPr/>
          <p:nvPr/>
        </p:nvSpPr>
        <p:spPr bwMode="auto">
          <a:xfrm>
            <a:off x="3273552" y="267004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5078833" name="Text 21"/>
          <p:cNvSpPr/>
          <p:nvPr/>
        </p:nvSpPr>
        <p:spPr bwMode="auto">
          <a:xfrm>
            <a:off x="3483864" y="26151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Gemini 2.0 Flash</a:t>
            </a:r>
            <a:endParaRPr lang="en-US" sz="1000"/>
          </a:p>
        </p:txBody>
      </p:sp>
      <p:sp>
        <p:nvSpPr>
          <p:cNvPr id="695783509" name="Shape 22"/>
          <p:cNvSpPr/>
          <p:nvPr/>
        </p:nvSpPr>
        <p:spPr bwMode="auto">
          <a:xfrm>
            <a:off x="3273552" y="320040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5821876" name="Text 23"/>
          <p:cNvSpPr/>
          <p:nvPr/>
        </p:nvSpPr>
        <p:spPr bwMode="auto">
          <a:xfrm>
            <a:off x="3483864" y="3145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Mistral API, Groq, Together…</a:t>
            </a:r>
            <a:endParaRPr lang="en-US" sz="1000"/>
          </a:p>
        </p:txBody>
      </p:sp>
      <p:sp>
        <p:nvSpPr>
          <p:cNvPr id="1773192274" name="Shape 24"/>
          <p:cNvSpPr/>
          <p:nvPr/>
        </p:nvSpPr>
        <p:spPr bwMode="auto">
          <a:xfrm>
            <a:off x="6044184" y="1051560"/>
            <a:ext cx="278892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142213" name="Text 25"/>
          <p:cNvSpPr/>
          <p:nvPr/>
        </p:nvSpPr>
        <p:spPr bwMode="auto">
          <a:xfrm>
            <a:off x="6044184" y="105156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Critères de sélection</a:t>
            </a:r>
            <a:endParaRPr lang="en-US" sz="1100"/>
          </a:p>
        </p:txBody>
      </p:sp>
      <p:sp>
        <p:nvSpPr>
          <p:cNvPr id="1999155162" name="Shape 26"/>
          <p:cNvSpPr/>
          <p:nvPr/>
        </p:nvSpPr>
        <p:spPr bwMode="auto">
          <a:xfrm>
            <a:off x="6044184" y="1490472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2439902" name="Shape 27"/>
          <p:cNvSpPr/>
          <p:nvPr/>
        </p:nvSpPr>
        <p:spPr bwMode="auto">
          <a:xfrm>
            <a:off x="6181344" y="1609344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13072903" name="Text 28"/>
          <p:cNvSpPr/>
          <p:nvPr/>
        </p:nvSpPr>
        <p:spPr bwMode="auto">
          <a:xfrm>
            <a:off x="6391656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Taille (3B→70B+) vs RAM dispo</a:t>
            </a:r>
            <a:endParaRPr lang="en-US" sz="1000"/>
          </a:p>
        </p:txBody>
      </p:sp>
      <p:sp>
        <p:nvSpPr>
          <p:cNvPr id="1833362631" name="Shape 29"/>
          <p:cNvSpPr/>
          <p:nvPr/>
        </p:nvSpPr>
        <p:spPr bwMode="auto">
          <a:xfrm>
            <a:off x="6181344" y="2139696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61853981" name="Text 30"/>
          <p:cNvSpPr/>
          <p:nvPr/>
        </p:nvSpPr>
        <p:spPr bwMode="auto">
          <a:xfrm>
            <a:off x="6391656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Capacités : code, vision, raison.</a:t>
            </a:r>
            <a:endParaRPr lang="en-US" sz="1000"/>
          </a:p>
        </p:txBody>
      </p:sp>
      <p:sp>
        <p:nvSpPr>
          <p:cNvPr id="412866616" name="Shape 31"/>
          <p:cNvSpPr/>
          <p:nvPr/>
        </p:nvSpPr>
        <p:spPr bwMode="auto">
          <a:xfrm>
            <a:off x="6181344" y="2670048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5227614" name="Text 32"/>
          <p:cNvSpPr/>
          <p:nvPr/>
        </p:nvSpPr>
        <p:spPr bwMode="auto">
          <a:xfrm>
            <a:off x="6391656" y="26151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Licence : MIT, Apache, Llama 3</a:t>
            </a:r>
            <a:endParaRPr lang="en-US" sz="1000"/>
          </a:p>
        </p:txBody>
      </p:sp>
      <p:sp>
        <p:nvSpPr>
          <p:cNvPr id="654665848" name="Shape 33"/>
          <p:cNvSpPr/>
          <p:nvPr/>
        </p:nvSpPr>
        <p:spPr bwMode="auto">
          <a:xfrm>
            <a:off x="6181344" y="3200400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93029484" name="Text 34"/>
          <p:cNvSpPr/>
          <p:nvPr/>
        </p:nvSpPr>
        <p:spPr bwMode="auto">
          <a:xfrm>
            <a:off x="6391656" y="3145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Latence vs qualité de réponse</a:t>
            </a:r>
            <a:endParaRPr lang="en-US" sz="1000"/>
          </a:p>
        </p:txBody>
      </p:sp>
      <p:sp>
        <p:nvSpPr>
          <p:cNvPr id="1866423827" name="Shape 35"/>
          <p:cNvSpPr/>
          <p:nvPr/>
        </p:nvSpPr>
        <p:spPr bwMode="auto">
          <a:xfrm>
            <a:off x="228600" y="4023360"/>
            <a:ext cx="8686800" cy="804672"/>
          </a:xfrm>
          <a:prstGeom prst="rect">
            <a:avLst/>
          </a:prstGeom>
          <a:solidFill>
            <a:srgbClr val="FFFBEB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15461265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048" y="4169664"/>
            <a:ext cx="347472" cy="347472"/>
          </a:xfrm>
          <a:prstGeom prst="rect">
            <a:avLst/>
          </a:prstGeom>
        </p:spPr>
      </p:pic>
      <p:sp>
        <p:nvSpPr>
          <p:cNvPr id="822229005" name="Text 36"/>
          <p:cNvSpPr/>
          <p:nvPr/>
        </p:nvSpPr>
        <p:spPr bwMode="auto">
          <a:xfrm>
            <a:off x="822960" y="4050792"/>
            <a:ext cx="8001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💡 Conseil débutant : commencer avec llama3.2:3b (~2 Go RAM) pour tester rapidement.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Passer à llama3.3:70b-q4_K_M (~45 Go) pour la qualité production. Utiliser nomic-embed-text pour le RAG.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09328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86690453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 d'Usage : Génération · Résumé · Q&amp;A</a:t>
            </a:r>
            <a:endParaRPr lang="en-US" sz="2200"/>
          </a:p>
        </p:txBody>
      </p:sp>
      <p:sp>
        <p:nvSpPr>
          <p:cNvPr id="93552814" name="Shape 2"/>
          <p:cNvSpPr/>
          <p:nvPr/>
        </p:nvSpPr>
        <p:spPr bwMode="auto">
          <a:xfrm>
            <a:off x="228600" y="100584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7330650" name="Shape 3"/>
          <p:cNvSpPr/>
          <p:nvPr/>
        </p:nvSpPr>
        <p:spPr bwMode="auto">
          <a:xfrm>
            <a:off x="228600" y="1005840"/>
            <a:ext cx="2788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62543980" name="Shape 4"/>
          <p:cNvSpPr/>
          <p:nvPr/>
        </p:nvSpPr>
        <p:spPr bwMode="auto">
          <a:xfrm>
            <a:off x="365760" y="1069848"/>
            <a:ext cx="475488" cy="475488"/>
          </a:xfrm>
          <a:prstGeom prst="ellipse">
            <a:avLst/>
          </a:prstGeom>
          <a:solidFill>
            <a:srgbClr val="E8F8F7">
              <a:alpha val="60000"/>
            </a:srgbClr>
          </a:solidFill>
          <a:ln w="12700">
            <a:solidFill>
              <a:srgbClr val="CCEEEC"/>
            </a:solidFill>
            <a:prstDash val="solid"/>
          </a:ln>
        </p:spPr>
      </p:sp>
      <p:pic>
        <p:nvPicPr>
          <p:cNvPr id="18215173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048" y="1088136"/>
            <a:ext cx="438912" cy="438912"/>
          </a:xfrm>
          <a:prstGeom prst="rect">
            <a:avLst/>
          </a:prstGeom>
        </p:spPr>
      </p:pic>
      <p:sp>
        <p:nvSpPr>
          <p:cNvPr id="397927685" name="Text 5"/>
          <p:cNvSpPr/>
          <p:nvPr/>
        </p:nvSpPr>
        <p:spPr bwMode="auto">
          <a:xfrm>
            <a:off x="941832" y="1051560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Génération de Contenu</a:t>
            </a:r>
            <a:endParaRPr lang="en-US" sz="1100"/>
          </a:p>
        </p:txBody>
      </p:sp>
      <p:pic>
        <p:nvPicPr>
          <p:cNvPr id="134378983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65760" y="1810512"/>
            <a:ext cx="256032" cy="256032"/>
          </a:xfrm>
          <a:prstGeom prst="rect">
            <a:avLst/>
          </a:prstGeom>
        </p:spPr>
      </p:pic>
      <p:sp>
        <p:nvSpPr>
          <p:cNvPr id="1737151351" name="Text 6"/>
          <p:cNvSpPr/>
          <p:nvPr/>
        </p:nvSpPr>
        <p:spPr bwMode="auto">
          <a:xfrm>
            <a:off x="685800" y="177393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Rédaction d'emails et rapports</a:t>
            </a:r>
            <a:endParaRPr lang="en-US" sz="1000"/>
          </a:p>
        </p:txBody>
      </p:sp>
      <p:pic>
        <p:nvPicPr>
          <p:cNvPr id="123128010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65760" y="2468880"/>
            <a:ext cx="256032" cy="256032"/>
          </a:xfrm>
          <a:prstGeom prst="rect">
            <a:avLst/>
          </a:prstGeom>
        </p:spPr>
      </p:pic>
      <p:sp>
        <p:nvSpPr>
          <p:cNvPr id="1462416710" name="Text 7"/>
          <p:cNvSpPr/>
          <p:nvPr/>
        </p:nvSpPr>
        <p:spPr bwMode="auto">
          <a:xfrm>
            <a:off x="685800" y="2432303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Génération de code (Python, SQL…)</a:t>
            </a:r>
            <a:endParaRPr lang="en-US" sz="1000"/>
          </a:p>
        </p:txBody>
      </p:sp>
      <p:pic>
        <p:nvPicPr>
          <p:cNvPr id="335459379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65760" y="3127248"/>
            <a:ext cx="256032" cy="256032"/>
          </a:xfrm>
          <a:prstGeom prst="rect">
            <a:avLst/>
          </a:prstGeom>
        </p:spPr>
      </p:pic>
      <p:sp>
        <p:nvSpPr>
          <p:cNvPr id="930654485" name="Text 8"/>
          <p:cNvSpPr/>
          <p:nvPr/>
        </p:nvSpPr>
        <p:spPr bwMode="auto">
          <a:xfrm>
            <a:off x="685800" y="309067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Contenu marketing multilingue</a:t>
            </a:r>
            <a:endParaRPr lang="en-US" sz="1000"/>
          </a:p>
        </p:txBody>
      </p:sp>
      <p:pic>
        <p:nvPicPr>
          <p:cNvPr id="552870276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65760" y="3785616"/>
            <a:ext cx="256032" cy="256032"/>
          </a:xfrm>
          <a:prstGeom prst="rect">
            <a:avLst/>
          </a:prstGeom>
        </p:spPr>
      </p:pic>
      <p:sp>
        <p:nvSpPr>
          <p:cNvPr id="1045009511" name="Text 9"/>
          <p:cNvSpPr/>
          <p:nvPr/>
        </p:nvSpPr>
        <p:spPr bwMode="auto">
          <a:xfrm>
            <a:off x="685800" y="374904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Documentation technique auto</a:t>
            </a:r>
            <a:endParaRPr lang="en-US" sz="1000"/>
          </a:p>
        </p:txBody>
      </p:sp>
      <p:sp>
        <p:nvSpPr>
          <p:cNvPr id="630802947" name="Shape 10"/>
          <p:cNvSpPr/>
          <p:nvPr/>
        </p:nvSpPr>
        <p:spPr bwMode="auto">
          <a:xfrm>
            <a:off x="3136392" y="100584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132961513" name="Shape 11"/>
          <p:cNvSpPr/>
          <p:nvPr/>
        </p:nvSpPr>
        <p:spPr bwMode="auto">
          <a:xfrm>
            <a:off x="3136392" y="1005840"/>
            <a:ext cx="278892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41467521" name="Shape 12"/>
          <p:cNvSpPr/>
          <p:nvPr/>
        </p:nvSpPr>
        <p:spPr bwMode="auto">
          <a:xfrm>
            <a:off x="3273552" y="1069848"/>
            <a:ext cx="475488" cy="475488"/>
          </a:xfrm>
          <a:prstGeom prst="ellipse">
            <a:avLst/>
          </a:prstGeom>
          <a:solidFill>
            <a:srgbClr val="E8F8F7">
              <a:alpha val="60000"/>
            </a:srgbClr>
          </a:solidFill>
          <a:ln w="12700">
            <a:solidFill>
              <a:srgbClr val="CCEEEC"/>
            </a:solidFill>
            <a:prstDash val="solid"/>
          </a:ln>
        </p:spPr>
      </p:sp>
      <p:pic>
        <p:nvPicPr>
          <p:cNvPr id="201952038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3291840" y="1088136"/>
            <a:ext cx="438912" cy="438912"/>
          </a:xfrm>
          <a:prstGeom prst="rect">
            <a:avLst/>
          </a:prstGeom>
        </p:spPr>
      </p:pic>
      <p:sp>
        <p:nvSpPr>
          <p:cNvPr id="2096538809" name="Text 13"/>
          <p:cNvSpPr/>
          <p:nvPr/>
        </p:nvSpPr>
        <p:spPr bwMode="auto">
          <a:xfrm>
            <a:off x="3849624" y="1051560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Résumé de Documents</a:t>
            </a:r>
            <a:endParaRPr lang="en-US" sz="1100"/>
          </a:p>
        </p:txBody>
      </p:sp>
      <p:pic>
        <p:nvPicPr>
          <p:cNvPr id="842769790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3273552" y="1810512"/>
            <a:ext cx="256032" cy="256032"/>
          </a:xfrm>
          <a:prstGeom prst="rect">
            <a:avLst/>
          </a:prstGeom>
        </p:spPr>
      </p:pic>
      <p:sp>
        <p:nvSpPr>
          <p:cNvPr id="908511964" name="Text 14"/>
          <p:cNvSpPr/>
          <p:nvPr/>
        </p:nvSpPr>
        <p:spPr bwMode="auto">
          <a:xfrm>
            <a:off x="3593592" y="177393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Résumé de PDFs uploadés</a:t>
            </a:r>
            <a:endParaRPr lang="en-US" sz="1000"/>
          </a:p>
        </p:txBody>
      </p:sp>
      <p:pic>
        <p:nvPicPr>
          <p:cNvPr id="918222363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3273552" y="2468880"/>
            <a:ext cx="256032" cy="256032"/>
          </a:xfrm>
          <a:prstGeom prst="rect">
            <a:avLst/>
          </a:prstGeom>
        </p:spPr>
      </p:pic>
      <p:sp>
        <p:nvSpPr>
          <p:cNvPr id="123668010" name="Text 15"/>
          <p:cNvSpPr/>
          <p:nvPr/>
        </p:nvSpPr>
        <p:spPr bwMode="auto">
          <a:xfrm>
            <a:off x="3593592" y="2432303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Synthèse de longues réunions</a:t>
            </a:r>
            <a:endParaRPr lang="en-US" sz="1000"/>
          </a:p>
        </p:txBody>
      </p:sp>
      <p:pic>
        <p:nvPicPr>
          <p:cNvPr id="813443027" name="Image 8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3273552" y="3127248"/>
            <a:ext cx="256032" cy="256032"/>
          </a:xfrm>
          <a:prstGeom prst="rect">
            <a:avLst/>
          </a:prstGeom>
        </p:spPr>
      </p:pic>
      <p:sp>
        <p:nvSpPr>
          <p:cNvPr id="1357085111" name="Text 16"/>
          <p:cNvSpPr/>
          <p:nvPr/>
        </p:nvSpPr>
        <p:spPr bwMode="auto">
          <a:xfrm>
            <a:off x="3593592" y="309067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Extraction des points clés</a:t>
            </a:r>
            <a:endParaRPr lang="en-US" sz="1000"/>
          </a:p>
        </p:txBody>
      </p:sp>
      <p:pic>
        <p:nvPicPr>
          <p:cNvPr id="6088048" name="Image 9" descr="preencoded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3273552" y="3785616"/>
            <a:ext cx="256032" cy="256032"/>
          </a:xfrm>
          <a:prstGeom prst="rect">
            <a:avLst/>
          </a:prstGeom>
        </p:spPr>
      </p:pic>
      <p:sp>
        <p:nvSpPr>
          <p:cNvPr id="2105232809" name="Text 17"/>
          <p:cNvSpPr/>
          <p:nvPr/>
        </p:nvSpPr>
        <p:spPr bwMode="auto">
          <a:xfrm>
            <a:off x="3593592" y="374904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Rapport de veille automatique</a:t>
            </a:r>
            <a:endParaRPr lang="en-US" sz="1000"/>
          </a:p>
        </p:txBody>
      </p:sp>
      <p:sp>
        <p:nvSpPr>
          <p:cNvPr id="418783498" name="Shape 18"/>
          <p:cNvSpPr/>
          <p:nvPr/>
        </p:nvSpPr>
        <p:spPr bwMode="auto">
          <a:xfrm>
            <a:off x="6044184" y="100584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30104131" name="Shape 19"/>
          <p:cNvSpPr/>
          <p:nvPr/>
        </p:nvSpPr>
        <p:spPr bwMode="auto">
          <a:xfrm>
            <a:off x="6044184" y="1005840"/>
            <a:ext cx="27889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8133623" name="Shape 20"/>
          <p:cNvSpPr/>
          <p:nvPr/>
        </p:nvSpPr>
        <p:spPr bwMode="auto">
          <a:xfrm>
            <a:off x="6181344" y="1069848"/>
            <a:ext cx="475488" cy="475488"/>
          </a:xfrm>
          <a:prstGeom prst="ellipse">
            <a:avLst/>
          </a:prstGeom>
          <a:solidFill>
            <a:srgbClr val="E8F8F7">
              <a:alpha val="60000"/>
            </a:srgbClr>
          </a:solidFill>
          <a:ln w="12700">
            <a:solidFill>
              <a:srgbClr val="CCEEEC"/>
            </a:solidFill>
            <a:prstDash val="solid"/>
          </a:ln>
        </p:spPr>
      </p:sp>
      <p:pic>
        <p:nvPicPr>
          <p:cNvPr id="236325157" name="Image 10" descr="preencoded.png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6199632" y="1088136"/>
            <a:ext cx="438912" cy="438912"/>
          </a:xfrm>
          <a:prstGeom prst="rect">
            <a:avLst/>
          </a:prstGeom>
        </p:spPr>
      </p:pic>
      <p:sp>
        <p:nvSpPr>
          <p:cNvPr id="1407214516" name="Text 21"/>
          <p:cNvSpPr/>
          <p:nvPr/>
        </p:nvSpPr>
        <p:spPr bwMode="auto">
          <a:xfrm>
            <a:off x="6757416" y="1051560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Q&amp;A Conversationnel</a:t>
            </a:r>
            <a:endParaRPr lang="en-US" sz="1100"/>
          </a:p>
        </p:txBody>
      </p:sp>
      <p:pic>
        <p:nvPicPr>
          <p:cNvPr id="483977143" name="Image 11" descr="preencoded.png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6181344" y="1810512"/>
            <a:ext cx="256032" cy="256032"/>
          </a:xfrm>
          <a:prstGeom prst="rect">
            <a:avLst/>
          </a:prstGeom>
        </p:spPr>
      </p:pic>
      <p:sp>
        <p:nvSpPr>
          <p:cNvPr id="1482401364" name="Text 22"/>
          <p:cNvSpPr/>
          <p:nvPr/>
        </p:nvSpPr>
        <p:spPr bwMode="auto">
          <a:xfrm>
            <a:off x="6501384" y="177393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FAQ sur base de connaissances</a:t>
            </a:r>
            <a:endParaRPr lang="en-US" sz="1000"/>
          </a:p>
        </p:txBody>
      </p:sp>
      <p:pic>
        <p:nvPicPr>
          <p:cNvPr id="1002205681" name="Image 12" descr="preencoded.png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6181344" y="2468880"/>
            <a:ext cx="256032" cy="256032"/>
          </a:xfrm>
          <a:prstGeom prst="rect">
            <a:avLst/>
          </a:prstGeom>
        </p:spPr>
      </p:pic>
      <p:sp>
        <p:nvSpPr>
          <p:cNvPr id="1548584253" name="Text 23"/>
          <p:cNvSpPr/>
          <p:nvPr/>
        </p:nvSpPr>
        <p:spPr bwMode="auto">
          <a:xfrm>
            <a:off x="6501384" y="2432303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Support technique interne</a:t>
            </a:r>
            <a:endParaRPr lang="en-US" sz="1000"/>
          </a:p>
        </p:txBody>
      </p:sp>
      <p:pic>
        <p:nvPicPr>
          <p:cNvPr id="277076544" name="Image 13" descr="preencoded.png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6181344" y="3127248"/>
            <a:ext cx="256032" cy="256032"/>
          </a:xfrm>
          <a:prstGeom prst="rect">
            <a:avLst/>
          </a:prstGeom>
        </p:spPr>
      </p:pic>
      <p:sp>
        <p:nvSpPr>
          <p:cNvPr id="1697294970" name="Text 24"/>
          <p:cNvSpPr/>
          <p:nvPr/>
        </p:nvSpPr>
        <p:spPr bwMode="auto">
          <a:xfrm>
            <a:off x="6501384" y="309067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Interrogation de documentation</a:t>
            </a:r>
            <a:endParaRPr lang="en-US" sz="1000"/>
          </a:p>
        </p:txBody>
      </p:sp>
      <p:pic>
        <p:nvPicPr>
          <p:cNvPr id="395998655" name="Image 14" descr="preencoded.png"/>
          <p:cNvPicPr>
            <a:picLocks noChangeAspect="1"/>
          </p:cNvPicPr>
          <p:nvPr/>
        </p:nvPicPr>
        <p:blipFill rotWithShape="1">
          <a:blip r:embed="rId17"/>
          <a:stretch/>
        </p:blipFill>
        <p:spPr bwMode="auto">
          <a:xfrm>
            <a:off x="6181344" y="3785616"/>
            <a:ext cx="256032" cy="256032"/>
          </a:xfrm>
          <a:prstGeom prst="rect">
            <a:avLst/>
          </a:prstGeom>
        </p:spPr>
      </p:pic>
      <p:sp>
        <p:nvSpPr>
          <p:cNvPr id="948934713" name="Text 25"/>
          <p:cNvSpPr/>
          <p:nvPr/>
        </p:nvSpPr>
        <p:spPr bwMode="auto">
          <a:xfrm>
            <a:off x="6501384" y="374904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Assistant métier personnalisé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373592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88470964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RAG – Retrieval-Augmented Generation</a:t>
            </a:r>
            <a:endParaRPr lang="en-US" sz="2200"/>
          </a:p>
        </p:txBody>
      </p:sp>
      <p:sp>
        <p:nvSpPr>
          <p:cNvPr id="773384704" name="Shape 2"/>
          <p:cNvSpPr/>
          <p:nvPr/>
        </p:nvSpPr>
        <p:spPr bwMode="auto">
          <a:xfrm>
            <a:off x="274320" y="1097280"/>
            <a:ext cx="1508759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8204173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7240" y="1143000"/>
            <a:ext cx="502920" cy="502920"/>
          </a:xfrm>
          <a:prstGeom prst="rect">
            <a:avLst/>
          </a:prstGeom>
        </p:spPr>
      </p:pic>
      <p:sp>
        <p:nvSpPr>
          <p:cNvPr id="1645967745" name="Text 3"/>
          <p:cNvSpPr/>
          <p:nvPr/>
        </p:nvSpPr>
        <p:spPr bwMode="auto">
          <a:xfrm>
            <a:off x="274320" y="1627632"/>
            <a:ext cx="1508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(PDF/TXT/URL)</a:t>
            </a:r>
            <a:endParaRPr lang="en-US" sz="950"/>
          </a:p>
        </p:txBody>
      </p:sp>
      <p:pic>
        <p:nvPicPr>
          <p:cNvPr id="169973165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801367" y="1554480"/>
            <a:ext cx="228600" cy="228600"/>
          </a:xfrm>
          <a:prstGeom prst="rect">
            <a:avLst/>
          </a:prstGeom>
        </p:spPr>
      </p:pic>
      <p:sp>
        <p:nvSpPr>
          <p:cNvPr id="1689248709" name="Shape 4"/>
          <p:cNvSpPr/>
          <p:nvPr/>
        </p:nvSpPr>
        <p:spPr bwMode="auto">
          <a:xfrm>
            <a:off x="2011680" y="1097280"/>
            <a:ext cx="1508759" cy="1234440"/>
          </a:xfrm>
          <a:prstGeom prst="rect">
            <a:avLst/>
          </a:prstGeom>
          <a:solidFill>
            <a:srgbClr val="0D4A3A"/>
          </a:solidFill>
          <a:ln w="12700">
            <a:solidFill>
              <a:srgbClr val="0D4A3A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67405040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514600" y="1143000"/>
            <a:ext cx="502920" cy="502920"/>
          </a:xfrm>
          <a:prstGeom prst="rect">
            <a:avLst/>
          </a:prstGeom>
        </p:spPr>
      </p:pic>
      <p:sp>
        <p:nvSpPr>
          <p:cNvPr id="551271722" name="Text 5"/>
          <p:cNvSpPr/>
          <p:nvPr/>
        </p:nvSpPr>
        <p:spPr bwMode="auto">
          <a:xfrm>
            <a:off x="2011680" y="1627632"/>
            <a:ext cx="1508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Chunking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Indexing</a:t>
            </a:r>
            <a:endParaRPr lang="en-US" sz="950"/>
          </a:p>
        </p:txBody>
      </p:sp>
      <p:pic>
        <p:nvPicPr>
          <p:cNvPr id="371664005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538728" y="1554480"/>
            <a:ext cx="228600" cy="228600"/>
          </a:xfrm>
          <a:prstGeom prst="rect">
            <a:avLst/>
          </a:prstGeom>
        </p:spPr>
      </p:pic>
      <p:sp>
        <p:nvSpPr>
          <p:cNvPr id="1635372182" name="Shape 6"/>
          <p:cNvSpPr/>
          <p:nvPr/>
        </p:nvSpPr>
        <p:spPr bwMode="auto">
          <a:xfrm>
            <a:off x="3749040" y="1097280"/>
            <a:ext cx="1508759" cy="123444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323492963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251960" y="1143000"/>
            <a:ext cx="502920" cy="502920"/>
          </a:xfrm>
          <a:prstGeom prst="rect">
            <a:avLst/>
          </a:prstGeom>
        </p:spPr>
      </p:pic>
      <p:sp>
        <p:nvSpPr>
          <p:cNvPr id="1739049245" name="Text 7"/>
          <p:cNvSpPr/>
          <p:nvPr/>
        </p:nvSpPr>
        <p:spPr bwMode="auto">
          <a:xfrm>
            <a:off x="3749040" y="1627632"/>
            <a:ext cx="1508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Recherche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Sémantique</a:t>
            </a:r>
            <a:endParaRPr lang="en-US" sz="950"/>
          </a:p>
        </p:txBody>
      </p:sp>
      <p:pic>
        <p:nvPicPr>
          <p:cNvPr id="1643134444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276088" y="1554480"/>
            <a:ext cx="228600" cy="228600"/>
          </a:xfrm>
          <a:prstGeom prst="rect">
            <a:avLst/>
          </a:prstGeom>
        </p:spPr>
      </p:pic>
      <p:sp>
        <p:nvSpPr>
          <p:cNvPr id="1460996730" name="Shape 8"/>
          <p:cNvSpPr/>
          <p:nvPr/>
        </p:nvSpPr>
        <p:spPr bwMode="auto">
          <a:xfrm>
            <a:off x="5486400" y="1097280"/>
            <a:ext cx="1508759" cy="12344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781152689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5989320" y="1143000"/>
            <a:ext cx="502920" cy="502920"/>
          </a:xfrm>
          <a:prstGeom prst="rect">
            <a:avLst/>
          </a:prstGeom>
        </p:spPr>
      </p:pic>
      <p:sp>
        <p:nvSpPr>
          <p:cNvPr id="628357628" name="Text 9"/>
          <p:cNvSpPr/>
          <p:nvPr/>
        </p:nvSpPr>
        <p:spPr bwMode="auto">
          <a:xfrm>
            <a:off x="5486400" y="1627632"/>
            <a:ext cx="1508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+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Contexte</a:t>
            </a:r>
            <a:endParaRPr lang="en-US" sz="950"/>
          </a:p>
        </p:txBody>
      </p:sp>
      <p:pic>
        <p:nvPicPr>
          <p:cNvPr id="1013874391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7013448" y="1554480"/>
            <a:ext cx="228600" cy="228600"/>
          </a:xfrm>
          <a:prstGeom prst="rect">
            <a:avLst/>
          </a:prstGeom>
        </p:spPr>
      </p:pic>
      <p:sp>
        <p:nvSpPr>
          <p:cNvPr id="407283307" name="Shape 10"/>
          <p:cNvSpPr/>
          <p:nvPr/>
        </p:nvSpPr>
        <p:spPr bwMode="auto">
          <a:xfrm>
            <a:off x="7223760" y="1097280"/>
            <a:ext cx="1508759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315896642" name="Image 8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7726680" y="1143000"/>
            <a:ext cx="502920" cy="502920"/>
          </a:xfrm>
          <a:prstGeom prst="rect">
            <a:avLst/>
          </a:prstGeom>
        </p:spPr>
      </p:pic>
      <p:sp>
        <p:nvSpPr>
          <p:cNvPr id="310581261" name="Text 11"/>
          <p:cNvSpPr/>
          <p:nvPr/>
        </p:nvSpPr>
        <p:spPr bwMode="auto">
          <a:xfrm>
            <a:off x="7223760" y="1627632"/>
            <a:ext cx="1508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Réponse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fondée</a:t>
            </a:r>
            <a:endParaRPr lang="en-US" sz="950"/>
          </a:p>
        </p:txBody>
      </p:sp>
      <p:sp>
        <p:nvSpPr>
          <p:cNvPr id="1875258621" name="Shape 12"/>
          <p:cNvSpPr/>
          <p:nvPr/>
        </p:nvSpPr>
        <p:spPr bwMode="auto">
          <a:xfrm>
            <a:off x="274320" y="256032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31731820" name="Text 13"/>
          <p:cNvSpPr/>
          <p:nvPr/>
        </p:nvSpPr>
        <p:spPr bwMode="auto">
          <a:xfrm>
            <a:off x="274320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Sources supportées</a:t>
            </a:r>
            <a:endParaRPr lang="en-US" sz="1000"/>
          </a:p>
        </p:txBody>
      </p:sp>
      <p:sp>
        <p:nvSpPr>
          <p:cNvPr id="1359287505" name="Shape 14"/>
          <p:cNvSpPr/>
          <p:nvPr/>
        </p:nvSpPr>
        <p:spPr bwMode="auto">
          <a:xfrm>
            <a:off x="274320" y="2907792"/>
            <a:ext cx="2743200" cy="2011680"/>
          </a:xfrm>
          <a:prstGeom prst="rect">
            <a:avLst/>
          </a:prstGeom>
          <a:solidFill>
            <a:srgbClr val="0D1A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41374293" name="Text 15"/>
          <p:cNvSpPr/>
          <p:nvPr/>
        </p:nvSpPr>
        <p:spPr bwMode="auto">
          <a:xfrm>
            <a:off x="384048" y="2971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PDF, DOCX, TXT, MD</a:t>
            </a:r>
            <a:endParaRPr lang="en-US" sz="950"/>
          </a:p>
        </p:txBody>
      </p:sp>
      <p:sp>
        <p:nvSpPr>
          <p:cNvPr id="739091386" name="Text 16"/>
          <p:cNvSpPr/>
          <p:nvPr/>
        </p:nvSpPr>
        <p:spPr bwMode="auto">
          <a:xfrm>
            <a:off x="384048" y="3429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URLs / sites web crawlés</a:t>
            </a:r>
            <a:endParaRPr lang="en-US" sz="950"/>
          </a:p>
        </p:txBody>
      </p:sp>
      <p:sp>
        <p:nvSpPr>
          <p:cNvPr id="1104054038" name="Text 17"/>
          <p:cNvSpPr/>
          <p:nvPr/>
        </p:nvSpPr>
        <p:spPr bwMode="auto">
          <a:xfrm>
            <a:off x="384048" y="3886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YouTube (transcription auto)</a:t>
            </a:r>
            <a:endParaRPr lang="en-US" sz="950"/>
          </a:p>
        </p:txBody>
      </p:sp>
      <p:sp>
        <p:nvSpPr>
          <p:cNvPr id="1388059624" name="Text 18"/>
          <p:cNvSpPr/>
          <p:nvPr/>
        </p:nvSpPr>
        <p:spPr bwMode="auto">
          <a:xfrm>
            <a:off x="384048" y="4343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Google Drive, Notion</a:t>
            </a:r>
            <a:endParaRPr lang="en-US" sz="950"/>
          </a:p>
        </p:txBody>
      </p:sp>
      <p:sp>
        <p:nvSpPr>
          <p:cNvPr id="547026508" name="Shape 19"/>
          <p:cNvSpPr/>
          <p:nvPr/>
        </p:nvSpPr>
        <p:spPr bwMode="auto">
          <a:xfrm>
            <a:off x="3154680" y="256032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2996083" name="Text 20"/>
          <p:cNvSpPr/>
          <p:nvPr/>
        </p:nvSpPr>
        <p:spPr bwMode="auto">
          <a:xfrm>
            <a:off x="3154680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Moteurs vectoriels</a:t>
            </a:r>
            <a:endParaRPr lang="en-US" sz="1000"/>
          </a:p>
        </p:txBody>
      </p:sp>
      <p:sp>
        <p:nvSpPr>
          <p:cNvPr id="325009505" name="Shape 21"/>
          <p:cNvSpPr/>
          <p:nvPr/>
        </p:nvSpPr>
        <p:spPr bwMode="auto">
          <a:xfrm>
            <a:off x="3154680" y="2907792"/>
            <a:ext cx="2743200" cy="2011680"/>
          </a:xfrm>
          <a:prstGeom prst="rect">
            <a:avLst/>
          </a:prstGeom>
          <a:solidFill>
            <a:srgbClr val="0D1A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98006212" name="Text 22"/>
          <p:cNvSpPr/>
          <p:nvPr/>
        </p:nvSpPr>
        <p:spPr bwMode="auto">
          <a:xfrm>
            <a:off x="3264408" y="2971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ChromaDB (défaut, embarqué)</a:t>
            </a:r>
            <a:endParaRPr lang="en-US" sz="950"/>
          </a:p>
        </p:txBody>
      </p:sp>
      <p:sp>
        <p:nvSpPr>
          <p:cNvPr id="1239616298" name="Text 23"/>
          <p:cNvSpPr/>
          <p:nvPr/>
        </p:nvSpPr>
        <p:spPr bwMode="auto">
          <a:xfrm>
            <a:off x="3264408" y="3429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Milvus, Qdrant, OpenSearch</a:t>
            </a:r>
            <a:endParaRPr lang="en-US" sz="950"/>
          </a:p>
        </p:txBody>
      </p:sp>
      <p:sp>
        <p:nvSpPr>
          <p:cNvPr id="1776717112" name="Text 24"/>
          <p:cNvSpPr/>
          <p:nvPr/>
        </p:nvSpPr>
        <p:spPr bwMode="auto">
          <a:xfrm>
            <a:off x="3264408" y="3886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PGVector (PostgreSQL)</a:t>
            </a:r>
            <a:endParaRPr lang="en-US" sz="950"/>
          </a:p>
        </p:txBody>
      </p:sp>
      <p:sp>
        <p:nvSpPr>
          <p:cNvPr id="1374753704" name="Text 25"/>
          <p:cNvSpPr/>
          <p:nvPr/>
        </p:nvSpPr>
        <p:spPr bwMode="auto">
          <a:xfrm>
            <a:off x="3264408" y="4343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Pinecone, Weaviate (cloud)</a:t>
            </a:r>
            <a:endParaRPr lang="en-US" sz="950"/>
          </a:p>
        </p:txBody>
      </p:sp>
      <p:sp>
        <p:nvSpPr>
          <p:cNvPr id="1708670001" name="Shape 26"/>
          <p:cNvSpPr/>
          <p:nvPr/>
        </p:nvSpPr>
        <p:spPr bwMode="auto">
          <a:xfrm>
            <a:off x="6035039" y="256032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28403165" name="Text 27"/>
          <p:cNvSpPr/>
          <p:nvPr/>
        </p:nvSpPr>
        <p:spPr bwMode="auto">
          <a:xfrm>
            <a:off x="6035039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Paramètres RAG</a:t>
            </a:r>
            <a:endParaRPr lang="en-US" sz="1000"/>
          </a:p>
        </p:txBody>
      </p:sp>
      <p:sp>
        <p:nvSpPr>
          <p:cNvPr id="329857483" name="Shape 28"/>
          <p:cNvSpPr/>
          <p:nvPr/>
        </p:nvSpPr>
        <p:spPr bwMode="auto">
          <a:xfrm>
            <a:off x="6035039" y="2907792"/>
            <a:ext cx="2743200" cy="2011680"/>
          </a:xfrm>
          <a:prstGeom prst="rect">
            <a:avLst/>
          </a:prstGeom>
          <a:solidFill>
            <a:srgbClr val="0D1A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95046078" name="Text 29"/>
          <p:cNvSpPr/>
          <p:nvPr/>
        </p:nvSpPr>
        <p:spPr bwMode="auto">
          <a:xfrm>
            <a:off x="6144768" y="2971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Top-k chunks (défaut: 5)</a:t>
            </a:r>
            <a:endParaRPr lang="en-US" sz="950"/>
          </a:p>
        </p:txBody>
      </p:sp>
      <p:sp>
        <p:nvSpPr>
          <p:cNvPr id="743564182" name="Text 30"/>
          <p:cNvSpPr/>
          <p:nvPr/>
        </p:nvSpPr>
        <p:spPr bwMode="auto">
          <a:xfrm>
            <a:off x="6144768" y="3429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Chunk size &amp; overlap réglables</a:t>
            </a:r>
            <a:endParaRPr lang="en-US" sz="950"/>
          </a:p>
        </p:txBody>
      </p:sp>
      <p:sp>
        <p:nvSpPr>
          <p:cNvPr id="1049306922" name="Text 31"/>
          <p:cNvSpPr/>
          <p:nvPr/>
        </p:nvSpPr>
        <p:spPr bwMode="auto">
          <a:xfrm>
            <a:off x="6144768" y="3886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Reranking (CrossEncoder)</a:t>
            </a:r>
            <a:endParaRPr lang="en-US" sz="950"/>
          </a:p>
        </p:txBody>
      </p:sp>
      <p:sp>
        <p:nvSpPr>
          <p:cNvPr id="525240438" name="Text 32"/>
          <p:cNvSpPr/>
          <p:nvPr/>
        </p:nvSpPr>
        <p:spPr bwMode="auto">
          <a:xfrm>
            <a:off x="6144768" y="4343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  Hybrid search BM25+dense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526903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46478385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Fonctionnalités Avancées</a:t>
            </a:r>
            <a:endParaRPr lang="en-US" sz="2400"/>
          </a:p>
        </p:txBody>
      </p:sp>
      <p:sp>
        <p:nvSpPr>
          <p:cNvPr id="494035355" name="Shape 2"/>
          <p:cNvSpPr/>
          <p:nvPr/>
        </p:nvSpPr>
        <p:spPr bwMode="auto">
          <a:xfrm>
            <a:off x="228600" y="105156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5939849" name="Shape 3"/>
          <p:cNvSpPr/>
          <p:nvPr/>
        </p:nvSpPr>
        <p:spPr bwMode="auto">
          <a:xfrm>
            <a:off x="228600" y="1051560"/>
            <a:ext cx="73152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91373600" name="Shape 4"/>
          <p:cNvSpPr/>
          <p:nvPr/>
        </p:nvSpPr>
        <p:spPr bwMode="auto">
          <a:xfrm>
            <a:off x="384048" y="1399032"/>
            <a:ext cx="502920" cy="5029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0891979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9768" y="1444752"/>
            <a:ext cx="411480" cy="411480"/>
          </a:xfrm>
          <a:prstGeom prst="rect">
            <a:avLst/>
          </a:prstGeom>
        </p:spPr>
      </p:pic>
      <p:sp>
        <p:nvSpPr>
          <p:cNvPr id="1106338036" name="Text 5"/>
          <p:cNvSpPr/>
          <p:nvPr/>
        </p:nvSpPr>
        <p:spPr bwMode="auto">
          <a:xfrm>
            <a:off x="100584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Gestion des Conversations</a:t>
            </a:r>
            <a:endParaRPr lang="en-US" sz="1100"/>
          </a:p>
        </p:txBody>
      </p:sp>
      <p:sp>
        <p:nvSpPr>
          <p:cNvPr id="120053949" name="Text 6"/>
          <p:cNvSpPr/>
          <p:nvPr/>
        </p:nvSpPr>
        <p:spPr bwMode="auto">
          <a:xfrm>
            <a:off x="1005840" y="1508759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Historique persistant, tags, dossiers, export JSON/MD. Partage par lien. Conversations épinglées.</a:t>
            </a:r>
            <a:endParaRPr lang="en-US" sz="900"/>
          </a:p>
        </p:txBody>
      </p:sp>
      <p:sp>
        <p:nvSpPr>
          <p:cNvPr id="302343866" name="Shape 7"/>
          <p:cNvSpPr/>
          <p:nvPr/>
        </p:nvSpPr>
        <p:spPr bwMode="auto">
          <a:xfrm>
            <a:off x="228600" y="236829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15445312" name="Shape 8"/>
          <p:cNvSpPr/>
          <p:nvPr/>
        </p:nvSpPr>
        <p:spPr bwMode="auto">
          <a:xfrm>
            <a:off x="228600" y="2368296"/>
            <a:ext cx="73152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9957880" name="Shape 9"/>
          <p:cNvSpPr/>
          <p:nvPr/>
        </p:nvSpPr>
        <p:spPr bwMode="auto">
          <a:xfrm>
            <a:off x="384048" y="2715768"/>
            <a:ext cx="502920" cy="5029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5356780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29768" y="2761488"/>
            <a:ext cx="411480" cy="411480"/>
          </a:xfrm>
          <a:prstGeom prst="rect">
            <a:avLst/>
          </a:prstGeom>
        </p:spPr>
      </p:pic>
      <p:sp>
        <p:nvSpPr>
          <p:cNvPr id="1918769942" name="Text 10"/>
          <p:cNvSpPr/>
          <p:nvPr/>
        </p:nvSpPr>
        <p:spPr bwMode="auto">
          <a:xfrm>
            <a:off x="1005840" y="245973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Multi-utilisateurs &amp; RBAC</a:t>
            </a:r>
            <a:endParaRPr lang="en-US" sz="1100"/>
          </a:p>
        </p:txBody>
      </p:sp>
      <p:sp>
        <p:nvSpPr>
          <p:cNvPr id="1435978413" name="Text 11"/>
          <p:cNvSpPr/>
          <p:nvPr/>
        </p:nvSpPr>
        <p:spPr bwMode="auto">
          <a:xfrm>
            <a:off x="1005840" y="282549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Comptes locaux ou OAuth/LDAP/SSO. Rôles Admin/User. Contrôle par modèle et par groupe.</a:t>
            </a:r>
            <a:endParaRPr lang="en-US" sz="900"/>
          </a:p>
        </p:txBody>
      </p:sp>
      <p:sp>
        <p:nvSpPr>
          <p:cNvPr id="1757724279" name="Shape 12"/>
          <p:cNvSpPr/>
          <p:nvPr/>
        </p:nvSpPr>
        <p:spPr bwMode="auto">
          <a:xfrm>
            <a:off x="228600" y="3685032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87434127" name="Shape 13"/>
          <p:cNvSpPr/>
          <p:nvPr/>
        </p:nvSpPr>
        <p:spPr bwMode="auto">
          <a:xfrm>
            <a:off x="228600" y="3685032"/>
            <a:ext cx="73152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24289409" name="Shape 14"/>
          <p:cNvSpPr/>
          <p:nvPr/>
        </p:nvSpPr>
        <p:spPr bwMode="auto">
          <a:xfrm>
            <a:off x="384048" y="4032504"/>
            <a:ext cx="502920" cy="5029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349343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29768" y="4078224"/>
            <a:ext cx="411480" cy="411480"/>
          </a:xfrm>
          <a:prstGeom prst="rect">
            <a:avLst/>
          </a:prstGeom>
        </p:spPr>
      </p:pic>
      <p:sp>
        <p:nvSpPr>
          <p:cNvPr id="2087100255" name="Text 15"/>
          <p:cNvSpPr/>
          <p:nvPr/>
        </p:nvSpPr>
        <p:spPr bwMode="auto">
          <a:xfrm>
            <a:off x="1005840" y="37764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Personnalisation UI</a:t>
            </a:r>
            <a:endParaRPr lang="en-US" sz="1100"/>
          </a:p>
        </p:txBody>
      </p:sp>
      <p:sp>
        <p:nvSpPr>
          <p:cNvPr id="691077033" name="Text 16"/>
          <p:cNvSpPr/>
          <p:nvPr/>
        </p:nvSpPr>
        <p:spPr bwMode="auto">
          <a:xfrm>
            <a:off x="1005840" y="41422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Thèmes clair/sombre, personas (system prompts), prompts partagés, banners admin.</a:t>
            </a:r>
            <a:endParaRPr lang="en-US" sz="900"/>
          </a:p>
        </p:txBody>
      </p:sp>
      <p:sp>
        <p:nvSpPr>
          <p:cNvPr id="414371023" name="Shape 17"/>
          <p:cNvSpPr/>
          <p:nvPr/>
        </p:nvSpPr>
        <p:spPr bwMode="auto">
          <a:xfrm>
            <a:off x="4709160" y="1051560"/>
            <a:ext cx="4206240" cy="3822192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894082032" name="Shape 18"/>
          <p:cNvSpPr/>
          <p:nvPr/>
        </p:nvSpPr>
        <p:spPr bwMode="auto">
          <a:xfrm>
            <a:off x="4709160" y="1051560"/>
            <a:ext cx="4206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94155512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828032" y="1097280"/>
            <a:ext cx="365760" cy="365760"/>
          </a:xfrm>
          <a:prstGeom prst="rect">
            <a:avLst/>
          </a:prstGeom>
        </p:spPr>
      </p:pic>
      <p:sp>
        <p:nvSpPr>
          <p:cNvPr id="1643587809" name="Text 19"/>
          <p:cNvSpPr/>
          <p:nvPr/>
        </p:nvSpPr>
        <p:spPr bwMode="auto">
          <a:xfrm>
            <a:off x="5230368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Plugins &amp; Pipelines</a:t>
            </a:r>
            <a:endParaRPr lang="en-US" sz="1200"/>
          </a:p>
        </p:txBody>
      </p:sp>
      <p:sp>
        <p:nvSpPr>
          <p:cNvPr id="137506863" name="Shape 20"/>
          <p:cNvSpPr/>
          <p:nvPr/>
        </p:nvSpPr>
        <p:spPr bwMode="auto">
          <a:xfrm>
            <a:off x="4828032" y="1664208"/>
            <a:ext cx="3977640" cy="457200"/>
          </a:xfrm>
          <a:prstGeom prst="rect">
            <a:avLst/>
          </a:prstGeom>
          <a:solidFill>
            <a:srgbClr val="0D1A2D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435591630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901184" y="1719072"/>
            <a:ext cx="347472" cy="347472"/>
          </a:xfrm>
          <a:prstGeom prst="rect">
            <a:avLst/>
          </a:prstGeom>
        </p:spPr>
      </p:pic>
      <p:sp>
        <p:nvSpPr>
          <p:cNvPr id="357168885" name="Text 21"/>
          <p:cNvSpPr/>
          <p:nvPr/>
        </p:nvSpPr>
        <p:spPr bwMode="auto">
          <a:xfrm>
            <a:off x="5321808" y="16642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Fonctions Python</a:t>
            </a:r>
            <a:endParaRPr lang="en-US" sz="950"/>
          </a:p>
        </p:txBody>
      </p:sp>
      <p:sp>
        <p:nvSpPr>
          <p:cNvPr id="842700828" name="Text 22"/>
          <p:cNvSpPr/>
          <p:nvPr/>
        </p:nvSpPr>
        <p:spPr bwMode="auto">
          <a:xfrm>
            <a:off x="6766560" y="16642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Outils, filtres, actions en Python pur</a:t>
            </a:r>
            <a:endParaRPr lang="en-US" sz="850"/>
          </a:p>
        </p:txBody>
      </p:sp>
      <p:sp>
        <p:nvSpPr>
          <p:cNvPr id="1261684381" name="Shape 23"/>
          <p:cNvSpPr/>
          <p:nvPr/>
        </p:nvSpPr>
        <p:spPr bwMode="auto">
          <a:xfrm>
            <a:off x="4828032" y="2194560"/>
            <a:ext cx="3977640" cy="457200"/>
          </a:xfrm>
          <a:prstGeom prst="rect">
            <a:avLst/>
          </a:prstGeom>
          <a:solidFill>
            <a:srgbClr val="0D1A2D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838064507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901184" y="2249424"/>
            <a:ext cx="347472" cy="347472"/>
          </a:xfrm>
          <a:prstGeom prst="rect">
            <a:avLst/>
          </a:prstGeom>
        </p:spPr>
      </p:pic>
      <p:sp>
        <p:nvSpPr>
          <p:cNvPr id="358593085" name="Text 24"/>
          <p:cNvSpPr/>
          <p:nvPr/>
        </p:nvSpPr>
        <p:spPr bwMode="auto">
          <a:xfrm>
            <a:off x="5321808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Outils Web</a:t>
            </a:r>
            <a:endParaRPr lang="en-US" sz="950"/>
          </a:p>
        </p:txBody>
      </p:sp>
      <p:sp>
        <p:nvSpPr>
          <p:cNvPr id="1393711498" name="Text 25"/>
          <p:cNvSpPr/>
          <p:nvPr/>
        </p:nvSpPr>
        <p:spPr bwMode="auto">
          <a:xfrm>
            <a:off x="676656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Recherche, météo, calculatrice intégrés</a:t>
            </a:r>
            <a:endParaRPr lang="en-US" sz="850"/>
          </a:p>
        </p:txBody>
      </p:sp>
      <p:sp>
        <p:nvSpPr>
          <p:cNvPr id="101891888" name="Shape 26"/>
          <p:cNvSpPr/>
          <p:nvPr/>
        </p:nvSpPr>
        <p:spPr bwMode="auto">
          <a:xfrm>
            <a:off x="4828032" y="2724911"/>
            <a:ext cx="3977640" cy="457200"/>
          </a:xfrm>
          <a:prstGeom prst="rect">
            <a:avLst/>
          </a:prstGeom>
          <a:solidFill>
            <a:srgbClr val="0D1A2D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93096927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4901184" y="2779776"/>
            <a:ext cx="347472" cy="347472"/>
          </a:xfrm>
          <a:prstGeom prst="rect">
            <a:avLst/>
          </a:prstGeom>
        </p:spPr>
      </p:pic>
      <p:sp>
        <p:nvSpPr>
          <p:cNvPr id="280029345" name="Text 27"/>
          <p:cNvSpPr/>
          <p:nvPr/>
        </p:nvSpPr>
        <p:spPr bwMode="auto">
          <a:xfrm>
            <a:off x="5321808" y="2724911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Code Interpreter</a:t>
            </a:r>
            <a:endParaRPr lang="en-US" sz="950"/>
          </a:p>
        </p:txBody>
      </p:sp>
      <p:sp>
        <p:nvSpPr>
          <p:cNvPr id="1751323507" name="Text 28"/>
          <p:cNvSpPr/>
          <p:nvPr/>
        </p:nvSpPr>
        <p:spPr bwMode="auto">
          <a:xfrm>
            <a:off x="6766560" y="2724911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Exécution Python sandbox in-chat</a:t>
            </a:r>
            <a:endParaRPr lang="en-US" sz="850"/>
          </a:p>
        </p:txBody>
      </p:sp>
      <p:sp>
        <p:nvSpPr>
          <p:cNvPr id="1743311767" name="Shape 29"/>
          <p:cNvSpPr/>
          <p:nvPr/>
        </p:nvSpPr>
        <p:spPr bwMode="auto">
          <a:xfrm>
            <a:off x="4828032" y="3255264"/>
            <a:ext cx="3977640" cy="457200"/>
          </a:xfrm>
          <a:prstGeom prst="rect">
            <a:avLst/>
          </a:prstGeom>
          <a:solidFill>
            <a:srgbClr val="0D1A2D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147216332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4901184" y="3310127"/>
            <a:ext cx="347472" cy="347472"/>
          </a:xfrm>
          <a:prstGeom prst="rect">
            <a:avLst/>
          </a:prstGeom>
        </p:spPr>
      </p:pic>
      <p:sp>
        <p:nvSpPr>
          <p:cNvPr id="806614967" name="Text 30"/>
          <p:cNvSpPr/>
          <p:nvPr/>
        </p:nvSpPr>
        <p:spPr bwMode="auto">
          <a:xfrm>
            <a:off x="5321808" y="32552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Vision / Multimodal</a:t>
            </a:r>
            <a:endParaRPr lang="en-US" sz="950"/>
          </a:p>
        </p:txBody>
      </p:sp>
      <p:sp>
        <p:nvSpPr>
          <p:cNvPr id="363106536" name="Text 31"/>
          <p:cNvSpPr/>
          <p:nvPr/>
        </p:nvSpPr>
        <p:spPr bwMode="auto">
          <a:xfrm>
            <a:off x="6766560" y="32552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Analyse d'images, OCR, graphiques</a:t>
            </a:r>
            <a:endParaRPr lang="en-US" sz="850"/>
          </a:p>
        </p:txBody>
      </p:sp>
      <p:sp>
        <p:nvSpPr>
          <p:cNvPr id="1315128257" name="Shape 32"/>
          <p:cNvSpPr/>
          <p:nvPr/>
        </p:nvSpPr>
        <p:spPr bwMode="auto">
          <a:xfrm>
            <a:off x="4828032" y="3785616"/>
            <a:ext cx="3977640" cy="457200"/>
          </a:xfrm>
          <a:prstGeom prst="rect">
            <a:avLst/>
          </a:prstGeom>
          <a:solidFill>
            <a:srgbClr val="0D1A2D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2934536" name="Image 8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4901184" y="3840480"/>
            <a:ext cx="347472" cy="347472"/>
          </a:xfrm>
          <a:prstGeom prst="rect">
            <a:avLst/>
          </a:prstGeom>
        </p:spPr>
      </p:pic>
      <p:sp>
        <p:nvSpPr>
          <p:cNvPr id="1282098504" name="Text 33"/>
          <p:cNvSpPr/>
          <p:nvPr/>
        </p:nvSpPr>
        <p:spPr bwMode="auto">
          <a:xfrm>
            <a:off x="5321808" y="37856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Text-to-Speech</a:t>
            </a:r>
            <a:endParaRPr lang="en-US" sz="950"/>
          </a:p>
        </p:txBody>
      </p:sp>
      <p:sp>
        <p:nvSpPr>
          <p:cNvPr id="1371160901" name="Text 34"/>
          <p:cNvSpPr/>
          <p:nvPr/>
        </p:nvSpPr>
        <p:spPr bwMode="auto">
          <a:xfrm>
            <a:off x="6766560" y="378561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ElevenLabs, OpenAI TTS, Kokoro local</a:t>
            </a:r>
            <a:endParaRPr lang="en-US" sz="850"/>
          </a:p>
        </p:txBody>
      </p:sp>
      <p:sp>
        <p:nvSpPr>
          <p:cNvPr id="986556204" name="Shape 35"/>
          <p:cNvSpPr/>
          <p:nvPr/>
        </p:nvSpPr>
        <p:spPr bwMode="auto">
          <a:xfrm>
            <a:off x="4828032" y="4315968"/>
            <a:ext cx="3977640" cy="457200"/>
          </a:xfrm>
          <a:prstGeom prst="rect">
            <a:avLst/>
          </a:prstGeom>
          <a:solidFill>
            <a:srgbClr val="0D1A2D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949188898" name="Image 9" descr="preencoded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4901184" y="4370832"/>
            <a:ext cx="347472" cy="347472"/>
          </a:xfrm>
          <a:prstGeom prst="rect">
            <a:avLst/>
          </a:prstGeom>
        </p:spPr>
      </p:pic>
      <p:sp>
        <p:nvSpPr>
          <p:cNvPr id="243959924" name="Text 36"/>
          <p:cNvSpPr/>
          <p:nvPr/>
        </p:nvSpPr>
        <p:spPr bwMode="auto">
          <a:xfrm>
            <a:off x="5321808" y="43159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Web Search</a:t>
            </a:r>
            <a:endParaRPr lang="en-US" sz="950"/>
          </a:p>
        </p:txBody>
      </p:sp>
      <p:sp>
        <p:nvSpPr>
          <p:cNvPr id="724080182" name="Text 37"/>
          <p:cNvSpPr/>
          <p:nvPr/>
        </p:nvSpPr>
        <p:spPr bwMode="auto">
          <a:xfrm>
            <a:off x="6766560" y="43159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SearXNG, Google PSE, Brave Search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294936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5971948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Comparaison avec d'autres solutions</a:t>
            </a:r>
            <a:endParaRPr lang="en-US" sz="2200"/>
          </a:p>
        </p:txBody>
      </p:sp>
      <p:sp>
        <p:nvSpPr>
          <p:cNvPr id="715470447" name="Shape 2"/>
          <p:cNvSpPr/>
          <p:nvPr/>
        </p:nvSpPr>
        <p:spPr bwMode="auto">
          <a:xfrm>
            <a:off x="201168" y="1005840"/>
            <a:ext cx="1828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40016198" name="Text 3"/>
          <p:cNvSpPr/>
          <p:nvPr/>
        </p:nvSpPr>
        <p:spPr bwMode="auto">
          <a:xfrm>
            <a:off x="201168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Critère</a:t>
            </a:r>
            <a:endParaRPr lang="en-US" sz="1000"/>
          </a:p>
        </p:txBody>
      </p:sp>
      <p:sp>
        <p:nvSpPr>
          <p:cNvPr id="1642711411" name="Shape 4"/>
          <p:cNvSpPr/>
          <p:nvPr/>
        </p:nvSpPr>
        <p:spPr bwMode="auto">
          <a:xfrm>
            <a:off x="2029968" y="1005840"/>
            <a:ext cx="1645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51051616" name="Text 5"/>
          <p:cNvSpPr/>
          <p:nvPr/>
        </p:nvSpPr>
        <p:spPr bwMode="auto">
          <a:xfrm>
            <a:off x="2029968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WebUI</a:t>
            </a:r>
            <a:endParaRPr lang="en-US" sz="1000"/>
          </a:p>
        </p:txBody>
      </p:sp>
      <p:sp>
        <p:nvSpPr>
          <p:cNvPr id="494559079" name="Shape 6"/>
          <p:cNvSpPr/>
          <p:nvPr/>
        </p:nvSpPr>
        <p:spPr bwMode="auto">
          <a:xfrm>
            <a:off x="3675888" y="1005840"/>
            <a:ext cx="1645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56483259" name="Text 7"/>
          <p:cNvSpPr/>
          <p:nvPr/>
        </p:nvSpPr>
        <p:spPr bwMode="auto">
          <a:xfrm>
            <a:off x="3675888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LibreChat</a:t>
            </a:r>
            <a:endParaRPr lang="en-US" sz="1000"/>
          </a:p>
        </p:txBody>
      </p:sp>
      <p:sp>
        <p:nvSpPr>
          <p:cNvPr id="1633692834" name="Shape 8"/>
          <p:cNvSpPr/>
          <p:nvPr/>
        </p:nvSpPr>
        <p:spPr bwMode="auto">
          <a:xfrm>
            <a:off x="5321808" y="1005840"/>
            <a:ext cx="1645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05271967" name="Text 9"/>
          <p:cNvSpPr/>
          <p:nvPr/>
        </p:nvSpPr>
        <p:spPr bwMode="auto">
          <a:xfrm>
            <a:off x="5321808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AnythingLLM</a:t>
            </a:r>
            <a:endParaRPr lang="en-US" sz="1000"/>
          </a:p>
        </p:txBody>
      </p:sp>
      <p:sp>
        <p:nvSpPr>
          <p:cNvPr id="1312323026" name="Shape 10"/>
          <p:cNvSpPr/>
          <p:nvPr/>
        </p:nvSpPr>
        <p:spPr bwMode="auto">
          <a:xfrm>
            <a:off x="6967728" y="1005840"/>
            <a:ext cx="1645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80189502" name="Text 11"/>
          <p:cNvSpPr/>
          <p:nvPr/>
        </p:nvSpPr>
        <p:spPr bwMode="auto">
          <a:xfrm>
            <a:off x="6967728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ChatGPT.com</a:t>
            </a:r>
            <a:endParaRPr lang="en-US" sz="1000"/>
          </a:p>
        </p:txBody>
      </p:sp>
      <p:sp>
        <p:nvSpPr>
          <p:cNvPr id="998350693" name="Shape 12"/>
          <p:cNvSpPr/>
          <p:nvPr/>
        </p:nvSpPr>
        <p:spPr bwMode="auto">
          <a:xfrm>
            <a:off x="201168" y="141732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261706" name="Text 13"/>
          <p:cNvSpPr/>
          <p:nvPr/>
        </p:nvSpPr>
        <p:spPr bwMode="auto">
          <a:xfrm>
            <a:off x="201168" y="14173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Open-source</a:t>
            </a:r>
            <a:endParaRPr lang="en-US" sz="950"/>
          </a:p>
        </p:txBody>
      </p:sp>
      <p:sp>
        <p:nvSpPr>
          <p:cNvPr id="946317965" name="Shape 14"/>
          <p:cNvSpPr/>
          <p:nvPr/>
        </p:nvSpPr>
        <p:spPr bwMode="auto">
          <a:xfrm>
            <a:off x="2029968" y="1417320"/>
            <a:ext cx="1645920" cy="420624"/>
          </a:xfrm>
          <a:prstGeom prst="rect">
            <a:avLst/>
          </a:prstGeom>
          <a:solidFill>
            <a:srgbClr val="E6F7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998638" name="Text 15"/>
          <p:cNvSpPr/>
          <p:nvPr/>
        </p:nvSpPr>
        <p:spPr bwMode="auto">
          <a:xfrm>
            <a:off x="2029968" y="14173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Oui</a:t>
            </a:r>
            <a:endParaRPr lang="en-US" sz="900"/>
          </a:p>
        </p:txBody>
      </p:sp>
      <p:sp>
        <p:nvSpPr>
          <p:cNvPr id="1890028501" name="Shape 16"/>
          <p:cNvSpPr/>
          <p:nvPr/>
        </p:nvSpPr>
        <p:spPr bwMode="auto">
          <a:xfrm>
            <a:off x="3675888" y="1417320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4006524" name="Text 17"/>
          <p:cNvSpPr/>
          <p:nvPr/>
        </p:nvSpPr>
        <p:spPr bwMode="auto">
          <a:xfrm>
            <a:off x="3675888" y="14173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Oui</a:t>
            </a:r>
            <a:endParaRPr lang="en-US" sz="900"/>
          </a:p>
        </p:txBody>
      </p:sp>
      <p:sp>
        <p:nvSpPr>
          <p:cNvPr id="2096924161" name="Shape 18"/>
          <p:cNvSpPr/>
          <p:nvPr/>
        </p:nvSpPr>
        <p:spPr bwMode="auto">
          <a:xfrm>
            <a:off x="5321808" y="1417320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43143170" name="Text 19"/>
          <p:cNvSpPr/>
          <p:nvPr/>
        </p:nvSpPr>
        <p:spPr bwMode="auto">
          <a:xfrm>
            <a:off x="5321808" y="14173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Oui</a:t>
            </a:r>
            <a:endParaRPr lang="en-US" sz="900"/>
          </a:p>
        </p:txBody>
      </p:sp>
      <p:sp>
        <p:nvSpPr>
          <p:cNvPr id="1991662332" name="Shape 20"/>
          <p:cNvSpPr/>
          <p:nvPr/>
        </p:nvSpPr>
        <p:spPr bwMode="auto">
          <a:xfrm>
            <a:off x="6967728" y="1417320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2821690" name="Text 21"/>
          <p:cNvSpPr/>
          <p:nvPr/>
        </p:nvSpPr>
        <p:spPr bwMode="auto">
          <a:xfrm>
            <a:off x="6967728" y="14173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❌ Non</a:t>
            </a:r>
            <a:endParaRPr lang="en-US" sz="900"/>
          </a:p>
        </p:txBody>
      </p:sp>
      <p:sp>
        <p:nvSpPr>
          <p:cNvPr id="1450792979" name="Shape 22"/>
          <p:cNvSpPr/>
          <p:nvPr/>
        </p:nvSpPr>
        <p:spPr bwMode="auto">
          <a:xfrm>
            <a:off x="201168" y="1856232"/>
            <a:ext cx="18288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07668081" name="Text 23"/>
          <p:cNvSpPr/>
          <p:nvPr/>
        </p:nvSpPr>
        <p:spPr bwMode="auto">
          <a:xfrm>
            <a:off x="201168" y="18562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Self-hosted</a:t>
            </a:r>
            <a:endParaRPr lang="en-US" sz="950"/>
          </a:p>
        </p:txBody>
      </p:sp>
      <p:sp>
        <p:nvSpPr>
          <p:cNvPr id="1939494728" name="Shape 24"/>
          <p:cNvSpPr/>
          <p:nvPr/>
        </p:nvSpPr>
        <p:spPr bwMode="auto">
          <a:xfrm>
            <a:off x="2029968" y="1856232"/>
            <a:ext cx="1645920" cy="420624"/>
          </a:xfrm>
          <a:prstGeom prst="rect">
            <a:avLst/>
          </a:prstGeom>
          <a:solidFill>
            <a:srgbClr val="C8EDE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8219079" name="Text 25"/>
          <p:cNvSpPr/>
          <p:nvPr/>
        </p:nvSpPr>
        <p:spPr bwMode="auto">
          <a:xfrm>
            <a:off x="2029968" y="18562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Facile</a:t>
            </a:r>
            <a:endParaRPr lang="en-US" sz="900"/>
          </a:p>
        </p:txBody>
      </p:sp>
      <p:sp>
        <p:nvSpPr>
          <p:cNvPr id="1174448988" name="Shape 26"/>
          <p:cNvSpPr/>
          <p:nvPr/>
        </p:nvSpPr>
        <p:spPr bwMode="auto">
          <a:xfrm>
            <a:off x="3675888" y="1856232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00446692" name="Text 27"/>
          <p:cNvSpPr/>
          <p:nvPr/>
        </p:nvSpPr>
        <p:spPr bwMode="auto">
          <a:xfrm>
            <a:off x="3675888" y="18562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Oui</a:t>
            </a:r>
            <a:endParaRPr lang="en-US" sz="900"/>
          </a:p>
        </p:txBody>
      </p:sp>
      <p:sp>
        <p:nvSpPr>
          <p:cNvPr id="1147719902" name="Shape 28"/>
          <p:cNvSpPr/>
          <p:nvPr/>
        </p:nvSpPr>
        <p:spPr bwMode="auto">
          <a:xfrm>
            <a:off x="5321808" y="1856232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0964324" name="Text 29"/>
          <p:cNvSpPr/>
          <p:nvPr/>
        </p:nvSpPr>
        <p:spPr bwMode="auto">
          <a:xfrm>
            <a:off x="5321808" y="18562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Oui</a:t>
            </a:r>
            <a:endParaRPr lang="en-US" sz="900"/>
          </a:p>
        </p:txBody>
      </p:sp>
      <p:sp>
        <p:nvSpPr>
          <p:cNvPr id="863634657" name="Shape 30"/>
          <p:cNvSpPr/>
          <p:nvPr/>
        </p:nvSpPr>
        <p:spPr bwMode="auto">
          <a:xfrm>
            <a:off x="6967728" y="1856232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3220557" name="Text 31"/>
          <p:cNvSpPr/>
          <p:nvPr/>
        </p:nvSpPr>
        <p:spPr bwMode="auto">
          <a:xfrm>
            <a:off x="6967728" y="18562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❌ Non</a:t>
            </a:r>
            <a:endParaRPr lang="en-US" sz="900"/>
          </a:p>
        </p:txBody>
      </p:sp>
      <p:sp>
        <p:nvSpPr>
          <p:cNvPr id="730431330" name="Shape 32"/>
          <p:cNvSpPr/>
          <p:nvPr/>
        </p:nvSpPr>
        <p:spPr bwMode="auto">
          <a:xfrm>
            <a:off x="201168" y="2295144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3693316" name="Text 33"/>
          <p:cNvSpPr/>
          <p:nvPr/>
        </p:nvSpPr>
        <p:spPr bwMode="auto">
          <a:xfrm>
            <a:off x="201168" y="22951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RAG intégré</a:t>
            </a:r>
            <a:endParaRPr lang="en-US" sz="950"/>
          </a:p>
        </p:txBody>
      </p:sp>
      <p:sp>
        <p:nvSpPr>
          <p:cNvPr id="7331541" name="Shape 34"/>
          <p:cNvSpPr/>
          <p:nvPr/>
        </p:nvSpPr>
        <p:spPr bwMode="auto">
          <a:xfrm>
            <a:off x="2029968" y="2295144"/>
            <a:ext cx="1645920" cy="420624"/>
          </a:xfrm>
          <a:prstGeom prst="rect">
            <a:avLst/>
          </a:prstGeom>
          <a:solidFill>
            <a:srgbClr val="E6F7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4915134" name="Text 35"/>
          <p:cNvSpPr/>
          <p:nvPr/>
        </p:nvSpPr>
        <p:spPr bwMode="auto">
          <a:xfrm>
            <a:off x="2029968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Avancé</a:t>
            </a:r>
            <a:endParaRPr lang="en-US" sz="900"/>
          </a:p>
        </p:txBody>
      </p:sp>
      <p:sp>
        <p:nvSpPr>
          <p:cNvPr id="1380543562" name="Shape 36"/>
          <p:cNvSpPr/>
          <p:nvPr/>
        </p:nvSpPr>
        <p:spPr bwMode="auto">
          <a:xfrm>
            <a:off x="3675888" y="2295144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141114" name="Text 37"/>
          <p:cNvSpPr/>
          <p:nvPr/>
        </p:nvSpPr>
        <p:spPr bwMode="auto">
          <a:xfrm>
            <a:off x="3675888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Basique</a:t>
            </a:r>
            <a:endParaRPr lang="en-US" sz="900"/>
          </a:p>
        </p:txBody>
      </p:sp>
      <p:sp>
        <p:nvSpPr>
          <p:cNvPr id="1143497239" name="Shape 38"/>
          <p:cNvSpPr/>
          <p:nvPr/>
        </p:nvSpPr>
        <p:spPr bwMode="auto">
          <a:xfrm>
            <a:off x="5321808" y="2295144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1427241" name="Text 39"/>
          <p:cNvSpPr/>
          <p:nvPr/>
        </p:nvSpPr>
        <p:spPr bwMode="auto">
          <a:xfrm>
            <a:off x="5321808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Avancé</a:t>
            </a:r>
            <a:endParaRPr lang="en-US" sz="900"/>
          </a:p>
        </p:txBody>
      </p:sp>
      <p:sp>
        <p:nvSpPr>
          <p:cNvPr id="1672667604" name="Shape 40"/>
          <p:cNvSpPr/>
          <p:nvPr/>
        </p:nvSpPr>
        <p:spPr bwMode="auto">
          <a:xfrm>
            <a:off x="6967728" y="2295144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9088443" name="Text 41"/>
          <p:cNvSpPr/>
          <p:nvPr/>
        </p:nvSpPr>
        <p:spPr bwMode="auto">
          <a:xfrm>
            <a:off x="6967728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Limité</a:t>
            </a:r>
            <a:endParaRPr lang="en-US" sz="900"/>
          </a:p>
        </p:txBody>
      </p:sp>
      <p:sp>
        <p:nvSpPr>
          <p:cNvPr id="1418371346" name="Shape 42"/>
          <p:cNvSpPr/>
          <p:nvPr/>
        </p:nvSpPr>
        <p:spPr bwMode="auto">
          <a:xfrm>
            <a:off x="201168" y="2734056"/>
            <a:ext cx="18288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46920793" name="Text 43"/>
          <p:cNvSpPr/>
          <p:nvPr/>
        </p:nvSpPr>
        <p:spPr bwMode="auto">
          <a:xfrm>
            <a:off x="201168" y="27340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Plugins / Outils</a:t>
            </a:r>
            <a:endParaRPr lang="en-US" sz="950"/>
          </a:p>
        </p:txBody>
      </p:sp>
      <p:sp>
        <p:nvSpPr>
          <p:cNvPr id="813338619" name="Shape 44"/>
          <p:cNvSpPr/>
          <p:nvPr/>
        </p:nvSpPr>
        <p:spPr bwMode="auto">
          <a:xfrm>
            <a:off x="2029968" y="2734056"/>
            <a:ext cx="1645920" cy="420624"/>
          </a:xfrm>
          <a:prstGeom prst="rect">
            <a:avLst/>
          </a:prstGeom>
          <a:solidFill>
            <a:srgbClr val="C8EDE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1276515" name="Text 45"/>
          <p:cNvSpPr/>
          <p:nvPr/>
        </p:nvSpPr>
        <p:spPr bwMode="auto">
          <a:xfrm>
            <a:off x="2029968" y="2734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Python</a:t>
            </a:r>
            <a:endParaRPr lang="en-US" sz="900"/>
          </a:p>
        </p:txBody>
      </p:sp>
      <p:sp>
        <p:nvSpPr>
          <p:cNvPr id="712964185" name="Shape 46"/>
          <p:cNvSpPr/>
          <p:nvPr/>
        </p:nvSpPr>
        <p:spPr bwMode="auto">
          <a:xfrm>
            <a:off x="3675888" y="2734056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7627575" name="Text 47"/>
          <p:cNvSpPr/>
          <p:nvPr/>
        </p:nvSpPr>
        <p:spPr bwMode="auto">
          <a:xfrm>
            <a:off x="3675888" y="2734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Oui</a:t>
            </a:r>
            <a:endParaRPr lang="en-US" sz="900"/>
          </a:p>
        </p:txBody>
      </p:sp>
      <p:sp>
        <p:nvSpPr>
          <p:cNvPr id="6791126" name="Shape 48"/>
          <p:cNvSpPr/>
          <p:nvPr/>
        </p:nvSpPr>
        <p:spPr bwMode="auto">
          <a:xfrm>
            <a:off x="5321808" y="2734056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1787120" name="Text 49"/>
          <p:cNvSpPr/>
          <p:nvPr/>
        </p:nvSpPr>
        <p:spPr bwMode="auto">
          <a:xfrm>
            <a:off x="5321808" y="2734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⚠️ Limité</a:t>
            </a:r>
            <a:endParaRPr lang="en-US" sz="900"/>
          </a:p>
        </p:txBody>
      </p:sp>
      <p:sp>
        <p:nvSpPr>
          <p:cNvPr id="326090776" name="Shape 50"/>
          <p:cNvSpPr/>
          <p:nvPr/>
        </p:nvSpPr>
        <p:spPr bwMode="auto">
          <a:xfrm>
            <a:off x="6967728" y="2734056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1632087" name="Text 51"/>
          <p:cNvSpPr/>
          <p:nvPr/>
        </p:nvSpPr>
        <p:spPr bwMode="auto">
          <a:xfrm>
            <a:off x="6967728" y="2734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GPTs</a:t>
            </a:r>
            <a:endParaRPr lang="en-US" sz="900"/>
          </a:p>
        </p:txBody>
      </p:sp>
      <p:sp>
        <p:nvSpPr>
          <p:cNvPr id="1974023647" name="Shape 52"/>
          <p:cNvSpPr/>
          <p:nvPr/>
        </p:nvSpPr>
        <p:spPr bwMode="auto">
          <a:xfrm>
            <a:off x="201168" y="3172968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2298691" name="Text 53"/>
          <p:cNvSpPr/>
          <p:nvPr/>
        </p:nvSpPr>
        <p:spPr bwMode="auto">
          <a:xfrm>
            <a:off x="201168" y="31729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Multi-modèles</a:t>
            </a:r>
            <a:endParaRPr lang="en-US" sz="950"/>
          </a:p>
        </p:txBody>
      </p:sp>
      <p:sp>
        <p:nvSpPr>
          <p:cNvPr id="683551800" name="Shape 54"/>
          <p:cNvSpPr/>
          <p:nvPr/>
        </p:nvSpPr>
        <p:spPr bwMode="auto">
          <a:xfrm>
            <a:off x="2029968" y="3172968"/>
            <a:ext cx="1645920" cy="420624"/>
          </a:xfrm>
          <a:prstGeom prst="rect">
            <a:avLst/>
          </a:prstGeom>
          <a:solidFill>
            <a:srgbClr val="E6F7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4996203" name="Text 55"/>
          <p:cNvSpPr/>
          <p:nvPr/>
        </p:nvSpPr>
        <p:spPr bwMode="auto">
          <a:xfrm>
            <a:off x="2029968" y="31729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Tous</a:t>
            </a:r>
            <a:endParaRPr lang="en-US" sz="900"/>
          </a:p>
        </p:txBody>
      </p:sp>
      <p:sp>
        <p:nvSpPr>
          <p:cNvPr id="538242738" name="Shape 56"/>
          <p:cNvSpPr/>
          <p:nvPr/>
        </p:nvSpPr>
        <p:spPr bwMode="auto">
          <a:xfrm>
            <a:off x="3675888" y="3172968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33910661" name="Text 57"/>
          <p:cNvSpPr/>
          <p:nvPr/>
        </p:nvSpPr>
        <p:spPr bwMode="auto">
          <a:xfrm>
            <a:off x="3675888" y="31729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Tous</a:t>
            </a:r>
            <a:endParaRPr lang="en-US" sz="900"/>
          </a:p>
        </p:txBody>
      </p:sp>
      <p:sp>
        <p:nvSpPr>
          <p:cNvPr id="280002061" name="Shape 58"/>
          <p:cNvSpPr/>
          <p:nvPr/>
        </p:nvSpPr>
        <p:spPr bwMode="auto">
          <a:xfrm>
            <a:off x="5321808" y="3172968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7241230" name="Text 59"/>
          <p:cNvSpPr/>
          <p:nvPr/>
        </p:nvSpPr>
        <p:spPr bwMode="auto">
          <a:xfrm>
            <a:off x="5321808" y="31729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Tous</a:t>
            </a:r>
            <a:endParaRPr lang="en-US" sz="900"/>
          </a:p>
        </p:txBody>
      </p:sp>
      <p:sp>
        <p:nvSpPr>
          <p:cNvPr id="1813613566" name="Shape 60"/>
          <p:cNvSpPr/>
          <p:nvPr/>
        </p:nvSpPr>
        <p:spPr bwMode="auto">
          <a:xfrm>
            <a:off x="6967728" y="3172968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3422967" name="Text 61"/>
          <p:cNvSpPr/>
          <p:nvPr/>
        </p:nvSpPr>
        <p:spPr bwMode="auto">
          <a:xfrm>
            <a:off x="6967728" y="31729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⚠️ OpenAI</a:t>
            </a:r>
            <a:endParaRPr lang="en-US" sz="900"/>
          </a:p>
        </p:txBody>
      </p:sp>
      <p:sp>
        <p:nvSpPr>
          <p:cNvPr id="538231031" name="Shape 62"/>
          <p:cNvSpPr/>
          <p:nvPr/>
        </p:nvSpPr>
        <p:spPr bwMode="auto">
          <a:xfrm>
            <a:off x="201168" y="3611880"/>
            <a:ext cx="18288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9653752" name="Text 63"/>
          <p:cNvSpPr/>
          <p:nvPr/>
        </p:nvSpPr>
        <p:spPr bwMode="auto">
          <a:xfrm>
            <a:off x="201168" y="36118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Multimodal</a:t>
            </a:r>
            <a:endParaRPr lang="en-US" sz="950"/>
          </a:p>
        </p:txBody>
      </p:sp>
      <p:sp>
        <p:nvSpPr>
          <p:cNvPr id="614920449" name="Shape 64"/>
          <p:cNvSpPr/>
          <p:nvPr/>
        </p:nvSpPr>
        <p:spPr bwMode="auto">
          <a:xfrm>
            <a:off x="2029968" y="3611880"/>
            <a:ext cx="1645920" cy="420624"/>
          </a:xfrm>
          <a:prstGeom prst="rect">
            <a:avLst/>
          </a:prstGeom>
          <a:solidFill>
            <a:srgbClr val="C8EDE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4186830" name="Text 65"/>
          <p:cNvSpPr/>
          <p:nvPr/>
        </p:nvSpPr>
        <p:spPr bwMode="auto">
          <a:xfrm>
            <a:off x="2029968" y="36118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Vision</a:t>
            </a:r>
            <a:endParaRPr lang="en-US" sz="900"/>
          </a:p>
        </p:txBody>
      </p:sp>
      <p:sp>
        <p:nvSpPr>
          <p:cNvPr id="659279210" name="Shape 66"/>
          <p:cNvSpPr/>
          <p:nvPr/>
        </p:nvSpPr>
        <p:spPr bwMode="auto">
          <a:xfrm>
            <a:off x="3675888" y="3611880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4034516" name="Text 67"/>
          <p:cNvSpPr/>
          <p:nvPr/>
        </p:nvSpPr>
        <p:spPr bwMode="auto">
          <a:xfrm>
            <a:off x="3675888" y="36118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Vision</a:t>
            </a:r>
            <a:endParaRPr lang="en-US" sz="900"/>
          </a:p>
        </p:txBody>
      </p:sp>
      <p:sp>
        <p:nvSpPr>
          <p:cNvPr id="2123498387" name="Shape 68"/>
          <p:cNvSpPr/>
          <p:nvPr/>
        </p:nvSpPr>
        <p:spPr bwMode="auto">
          <a:xfrm>
            <a:off x="5321808" y="3611880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4019206" name="Text 69"/>
          <p:cNvSpPr/>
          <p:nvPr/>
        </p:nvSpPr>
        <p:spPr bwMode="auto">
          <a:xfrm>
            <a:off x="5321808" y="36118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⚠️ Partiel</a:t>
            </a:r>
            <a:endParaRPr lang="en-US" sz="900"/>
          </a:p>
        </p:txBody>
      </p:sp>
      <p:sp>
        <p:nvSpPr>
          <p:cNvPr id="334756923" name="Shape 70"/>
          <p:cNvSpPr/>
          <p:nvPr/>
        </p:nvSpPr>
        <p:spPr bwMode="auto">
          <a:xfrm>
            <a:off x="6967728" y="3611880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3789167" name="Text 71"/>
          <p:cNvSpPr/>
          <p:nvPr/>
        </p:nvSpPr>
        <p:spPr bwMode="auto">
          <a:xfrm>
            <a:off x="6967728" y="36118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Oui</a:t>
            </a:r>
            <a:endParaRPr lang="en-US" sz="900"/>
          </a:p>
        </p:txBody>
      </p:sp>
      <p:sp>
        <p:nvSpPr>
          <p:cNvPr id="2091297047" name="Shape 72"/>
          <p:cNvSpPr/>
          <p:nvPr/>
        </p:nvSpPr>
        <p:spPr bwMode="auto">
          <a:xfrm>
            <a:off x="201168" y="405079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9929988" name="Text 73"/>
          <p:cNvSpPr/>
          <p:nvPr/>
        </p:nvSpPr>
        <p:spPr bwMode="auto">
          <a:xfrm>
            <a:off x="201168" y="40507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Mobile App</a:t>
            </a:r>
            <a:endParaRPr lang="en-US" sz="950"/>
          </a:p>
        </p:txBody>
      </p:sp>
      <p:sp>
        <p:nvSpPr>
          <p:cNvPr id="1967098706" name="Shape 74"/>
          <p:cNvSpPr/>
          <p:nvPr/>
        </p:nvSpPr>
        <p:spPr bwMode="auto">
          <a:xfrm>
            <a:off x="2029968" y="4050792"/>
            <a:ext cx="1645920" cy="420624"/>
          </a:xfrm>
          <a:prstGeom prst="rect">
            <a:avLst/>
          </a:prstGeom>
          <a:solidFill>
            <a:srgbClr val="E6F7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4076952" name="Text 75"/>
          <p:cNvSpPr/>
          <p:nvPr/>
        </p:nvSpPr>
        <p:spPr bwMode="auto">
          <a:xfrm>
            <a:off x="2029968" y="40507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⚠️ PWA</a:t>
            </a:r>
            <a:endParaRPr lang="en-US" sz="900"/>
          </a:p>
        </p:txBody>
      </p:sp>
      <p:sp>
        <p:nvSpPr>
          <p:cNvPr id="750681158" name="Shape 76"/>
          <p:cNvSpPr/>
          <p:nvPr/>
        </p:nvSpPr>
        <p:spPr bwMode="auto">
          <a:xfrm>
            <a:off x="3675888" y="4050792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09233735" name="Text 77"/>
          <p:cNvSpPr/>
          <p:nvPr/>
        </p:nvSpPr>
        <p:spPr bwMode="auto">
          <a:xfrm>
            <a:off x="3675888" y="40507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⚠️ PWA</a:t>
            </a:r>
            <a:endParaRPr lang="en-US" sz="900"/>
          </a:p>
        </p:txBody>
      </p:sp>
      <p:sp>
        <p:nvSpPr>
          <p:cNvPr id="1612904263" name="Shape 78"/>
          <p:cNvSpPr/>
          <p:nvPr/>
        </p:nvSpPr>
        <p:spPr bwMode="auto">
          <a:xfrm>
            <a:off x="5321808" y="4050792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1026888" name="Text 79"/>
          <p:cNvSpPr/>
          <p:nvPr/>
        </p:nvSpPr>
        <p:spPr bwMode="auto">
          <a:xfrm>
            <a:off x="5321808" y="40507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❌ Non</a:t>
            </a:r>
            <a:endParaRPr lang="en-US" sz="900"/>
          </a:p>
        </p:txBody>
      </p:sp>
      <p:sp>
        <p:nvSpPr>
          <p:cNvPr id="1860087394" name="Shape 80"/>
          <p:cNvSpPr/>
          <p:nvPr/>
        </p:nvSpPr>
        <p:spPr bwMode="auto">
          <a:xfrm>
            <a:off x="6967728" y="4050792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09423136" name="Text 81"/>
          <p:cNvSpPr/>
          <p:nvPr/>
        </p:nvSpPr>
        <p:spPr bwMode="auto">
          <a:xfrm>
            <a:off x="6967728" y="40507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✅ Native</a:t>
            </a:r>
            <a:endParaRPr lang="en-US" sz="900"/>
          </a:p>
        </p:txBody>
      </p:sp>
      <p:sp>
        <p:nvSpPr>
          <p:cNvPr id="58387038" name="Shape 82"/>
          <p:cNvSpPr/>
          <p:nvPr/>
        </p:nvSpPr>
        <p:spPr bwMode="auto">
          <a:xfrm>
            <a:off x="201168" y="4489704"/>
            <a:ext cx="18288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1639441" name="Text 83"/>
          <p:cNvSpPr/>
          <p:nvPr/>
        </p:nvSpPr>
        <p:spPr bwMode="auto">
          <a:xfrm>
            <a:off x="201168" y="4489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Facilité config</a:t>
            </a:r>
            <a:endParaRPr lang="en-US" sz="950"/>
          </a:p>
        </p:txBody>
      </p:sp>
      <p:sp>
        <p:nvSpPr>
          <p:cNvPr id="1999668057" name="Shape 84"/>
          <p:cNvSpPr/>
          <p:nvPr/>
        </p:nvSpPr>
        <p:spPr bwMode="auto">
          <a:xfrm>
            <a:off x="2029968" y="4489704"/>
            <a:ext cx="1645920" cy="420624"/>
          </a:xfrm>
          <a:prstGeom prst="rect">
            <a:avLst/>
          </a:prstGeom>
          <a:solidFill>
            <a:srgbClr val="C8EDE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3113000" name="Text 85"/>
          <p:cNvSpPr/>
          <p:nvPr/>
        </p:nvSpPr>
        <p:spPr bwMode="auto">
          <a:xfrm>
            <a:off x="2029968" y="44897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⭐⭐⭐⭐</a:t>
            </a:r>
            <a:endParaRPr lang="en-US" sz="900"/>
          </a:p>
        </p:txBody>
      </p:sp>
      <p:sp>
        <p:nvSpPr>
          <p:cNvPr id="1243030657" name="Shape 86"/>
          <p:cNvSpPr/>
          <p:nvPr/>
        </p:nvSpPr>
        <p:spPr bwMode="auto">
          <a:xfrm>
            <a:off x="3675888" y="4489704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9719585" name="Text 87"/>
          <p:cNvSpPr/>
          <p:nvPr/>
        </p:nvSpPr>
        <p:spPr bwMode="auto">
          <a:xfrm>
            <a:off x="3675888" y="44897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⭐⭐⭐</a:t>
            </a:r>
            <a:endParaRPr lang="en-US" sz="900"/>
          </a:p>
        </p:txBody>
      </p:sp>
      <p:sp>
        <p:nvSpPr>
          <p:cNvPr id="309178854" name="Shape 88"/>
          <p:cNvSpPr/>
          <p:nvPr/>
        </p:nvSpPr>
        <p:spPr bwMode="auto">
          <a:xfrm>
            <a:off x="5321808" y="4489704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6005056" name="Text 89"/>
          <p:cNvSpPr/>
          <p:nvPr/>
        </p:nvSpPr>
        <p:spPr bwMode="auto">
          <a:xfrm>
            <a:off x="5321808" y="44897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⭐⭐⭐⭐</a:t>
            </a:r>
            <a:endParaRPr lang="en-US" sz="900"/>
          </a:p>
        </p:txBody>
      </p:sp>
      <p:sp>
        <p:nvSpPr>
          <p:cNvPr id="1954358306" name="Shape 90"/>
          <p:cNvSpPr/>
          <p:nvPr/>
        </p:nvSpPr>
        <p:spPr bwMode="auto">
          <a:xfrm>
            <a:off x="6967728" y="4489704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6314322" name="Text 91"/>
          <p:cNvSpPr/>
          <p:nvPr/>
        </p:nvSpPr>
        <p:spPr bwMode="auto">
          <a:xfrm>
            <a:off x="6967728" y="44897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⭐⭐⭐⭐⭐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176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04443885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Limites &amp; Points de Vigilance</a:t>
            </a:r>
            <a:endParaRPr lang="en-US" sz="2400"/>
          </a:p>
        </p:txBody>
      </p:sp>
      <p:sp>
        <p:nvSpPr>
          <p:cNvPr id="1059217079" name="Shape 2"/>
          <p:cNvSpPr/>
          <p:nvPr/>
        </p:nvSpPr>
        <p:spPr bwMode="auto">
          <a:xfrm>
            <a:off x="201168" y="1051560"/>
            <a:ext cx="28346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86626626" name="Shape 3"/>
          <p:cNvSpPr/>
          <p:nvPr/>
        </p:nvSpPr>
        <p:spPr bwMode="auto">
          <a:xfrm>
            <a:off x="201168" y="1051560"/>
            <a:ext cx="2834640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8112331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8328" y="1115568"/>
            <a:ext cx="384048" cy="384048"/>
          </a:xfrm>
          <a:prstGeom prst="rect">
            <a:avLst/>
          </a:prstGeom>
        </p:spPr>
      </p:pic>
      <p:sp>
        <p:nvSpPr>
          <p:cNvPr id="1884569483" name="Text 4"/>
          <p:cNvSpPr/>
          <p:nvPr/>
        </p:nvSpPr>
        <p:spPr bwMode="auto">
          <a:xfrm>
            <a:off x="795528" y="1097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Ressources Matérielles</a:t>
            </a:r>
            <a:endParaRPr lang="en-US" sz="1100"/>
          </a:p>
        </p:txBody>
      </p:sp>
      <p:sp>
        <p:nvSpPr>
          <p:cNvPr id="567864227" name="Shape 5"/>
          <p:cNvSpPr/>
          <p:nvPr/>
        </p:nvSpPr>
        <p:spPr bwMode="auto">
          <a:xfrm>
            <a:off x="365760" y="188366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72610459" name="Text 6"/>
          <p:cNvSpPr/>
          <p:nvPr/>
        </p:nvSpPr>
        <p:spPr bwMode="auto">
          <a:xfrm>
            <a:off x="585216" y="1783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LLM 7B+ nécessitent 16 Go RAM minimum</a:t>
            </a:r>
            <a:endParaRPr lang="en-US" sz="950"/>
          </a:p>
        </p:txBody>
      </p:sp>
      <p:sp>
        <p:nvSpPr>
          <p:cNvPr id="1037876727" name="Shape 7"/>
          <p:cNvSpPr/>
          <p:nvPr/>
        </p:nvSpPr>
        <p:spPr bwMode="auto">
          <a:xfrm>
            <a:off x="365760" y="266090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57210412" name="Text 8"/>
          <p:cNvSpPr/>
          <p:nvPr/>
        </p:nvSpPr>
        <p:spPr bwMode="auto">
          <a:xfrm>
            <a:off x="585216" y="2560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Llama 3.3 70B → ~45 Go RAM ou GPU 40 Go VRAM</a:t>
            </a:r>
            <a:endParaRPr lang="en-US" sz="950"/>
          </a:p>
        </p:txBody>
      </p:sp>
      <p:sp>
        <p:nvSpPr>
          <p:cNvPr id="852865972" name="Shape 9"/>
          <p:cNvSpPr/>
          <p:nvPr/>
        </p:nvSpPr>
        <p:spPr bwMode="auto">
          <a:xfrm>
            <a:off x="365760" y="343814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9593795" name="Text 10"/>
          <p:cNvSpPr/>
          <p:nvPr/>
        </p:nvSpPr>
        <p:spPr bwMode="auto">
          <a:xfrm>
            <a:off x="585216" y="3337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Latence élevée CPU-only : 2-5 tok/sec</a:t>
            </a:r>
            <a:endParaRPr lang="en-US" sz="950"/>
          </a:p>
        </p:txBody>
      </p:sp>
      <p:sp>
        <p:nvSpPr>
          <p:cNvPr id="51559652" name="Shape 11"/>
          <p:cNvSpPr/>
          <p:nvPr/>
        </p:nvSpPr>
        <p:spPr bwMode="auto">
          <a:xfrm>
            <a:off x="3172968" y="1051560"/>
            <a:ext cx="28346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517182861" name="Shape 12"/>
          <p:cNvSpPr/>
          <p:nvPr/>
        </p:nvSpPr>
        <p:spPr bwMode="auto">
          <a:xfrm>
            <a:off x="3172968" y="1051560"/>
            <a:ext cx="2834640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6133403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10127" y="1115568"/>
            <a:ext cx="384048" cy="384048"/>
          </a:xfrm>
          <a:prstGeom prst="rect">
            <a:avLst/>
          </a:prstGeom>
        </p:spPr>
      </p:pic>
      <p:sp>
        <p:nvSpPr>
          <p:cNvPr id="384377840" name="Text 13"/>
          <p:cNvSpPr/>
          <p:nvPr/>
        </p:nvSpPr>
        <p:spPr bwMode="auto">
          <a:xfrm>
            <a:off x="3767328" y="1097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Sécurité &amp; Production</a:t>
            </a:r>
            <a:endParaRPr lang="en-US" sz="1100"/>
          </a:p>
        </p:txBody>
      </p:sp>
      <p:sp>
        <p:nvSpPr>
          <p:cNvPr id="1998465198" name="Shape 14"/>
          <p:cNvSpPr/>
          <p:nvPr/>
        </p:nvSpPr>
        <p:spPr bwMode="auto">
          <a:xfrm>
            <a:off x="3337560" y="188366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2122610" name="Text 15"/>
          <p:cNvSpPr/>
          <p:nvPr/>
        </p:nvSpPr>
        <p:spPr bwMode="auto">
          <a:xfrm>
            <a:off x="3557016" y="1783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Reverse proxy HTTPS obligatoire (Nginx/Caddy)</a:t>
            </a:r>
            <a:endParaRPr lang="en-US" sz="950"/>
          </a:p>
        </p:txBody>
      </p:sp>
      <p:sp>
        <p:nvSpPr>
          <p:cNvPr id="935754111" name="Shape 16"/>
          <p:cNvSpPr/>
          <p:nvPr/>
        </p:nvSpPr>
        <p:spPr bwMode="auto">
          <a:xfrm>
            <a:off x="3337560" y="266090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3428831" name="Text 17"/>
          <p:cNvSpPr/>
          <p:nvPr/>
        </p:nvSpPr>
        <p:spPr bwMode="auto">
          <a:xfrm>
            <a:off x="3557016" y="2560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Secrets API à externaliser (Vault, env vars)</a:t>
            </a:r>
            <a:endParaRPr lang="en-US" sz="950"/>
          </a:p>
        </p:txBody>
      </p:sp>
      <p:sp>
        <p:nvSpPr>
          <p:cNvPr id="1100438341" name="Shape 18"/>
          <p:cNvSpPr/>
          <p:nvPr/>
        </p:nvSpPr>
        <p:spPr bwMode="auto">
          <a:xfrm>
            <a:off x="3337560" y="343814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4929280" name="Text 19"/>
          <p:cNvSpPr/>
          <p:nvPr/>
        </p:nvSpPr>
        <p:spPr bwMode="auto">
          <a:xfrm>
            <a:off x="3557016" y="3337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Audit logging limité sans plugin supplémentaire</a:t>
            </a:r>
            <a:endParaRPr lang="en-US" sz="950"/>
          </a:p>
        </p:txBody>
      </p:sp>
      <p:sp>
        <p:nvSpPr>
          <p:cNvPr id="1486876972" name="Shape 20"/>
          <p:cNvSpPr/>
          <p:nvPr/>
        </p:nvSpPr>
        <p:spPr bwMode="auto">
          <a:xfrm>
            <a:off x="6144768" y="1051560"/>
            <a:ext cx="28346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06056622" name="Shape 21"/>
          <p:cNvSpPr/>
          <p:nvPr/>
        </p:nvSpPr>
        <p:spPr bwMode="auto">
          <a:xfrm>
            <a:off x="6144768" y="1051560"/>
            <a:ext cx="2834640" cy="62179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pic>
        <p:nvPicPr>
          <p:cNvPr id="427548883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281928" y="1115568"/>
            <a:ext cx="384048" cy="384048"/>
          </a:xfrm>
          <a:prstGeom prst="rect">
            <a:avLst/>
          </a:prstGeom>
        </p:spPr>
      </p:pic>
      <p:sp>
        <p:nvSpPr>
          <p:cNvPr id="884815655" name="Text 22"/>
          <p:cNvSpPr/>
          <p:nvPr/>
        </p:nvSpPr>
        <p:spPr bwMode="auto">
          <a:xfrm>
            <a:off x="6739128" y="1097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Limites Fonctionnelles</a:t>
            </a:r>
            <a:endParaRPr lang="en-US" sz="1100"/>
          </a:p>
        </p:txBody>
      </p:sp>
      <p:sp>
        <p:nvSpPr>
          <p:cNvPr id="1251624348" name="Shape 23"/>
          <p:cNvSpPr/>
          <p:nvPr/>
        </p:nvSpPr>
        <p:spPr bwMode="auto">
          <a:xfrm>
            <a:off x="6309360" y="1883664"/>
            <a:ext cx="128016" cy="12801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15891794" name="Text 24"/>
          <p:cNvSpPr/>
          <p:nvPr/>
        </p:nvSpPr>
        <p:spPr bwMode="auto">
          <a:xfrm>
            <a:off x="6528816" y="1783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Pas d'app mobile native (PWA uniquement)</a:t>
            </a:r>
            <a:endParaRPr lang="en-US" sz="950"/>
          </a:p>
        </p:txBody>
      </p:sp>
      <p:sp>
        <p:nvSpPr>
          <p:cNvPr id="1582078966" name="Shape 25"/>
          <p:cNvSpPr/>
          <p:nvPr/>
        </p:nvSpPr>
        <p:spPr bwMode="auto">
          <a:xfrm>
            <a:off x="6309360" y="2660904"/>
            <a:ext cx="128016" cy="12801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133152055" name="Text 26"/>
          <p:cNvSpPr/>
          <p:nvPr/>
        </p:nvSpPr>
        <p:spPr bwMode="auto">
          <a:xfrm>
            <a:off x="6528816" y="2560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RAG limité sur très grands corpus (&gt;100k docs)</a:t>
            </a:r>
            <a:endParaRPr lang="en-US" sz="950"/>
          </a:p>
        </p:txBody>
      </p:sp>
      <p:sp>
        <p:nvSpPr>
          <p:cNvPr id="1670434032" name="Shape 27"/>
          <p:cNvSpPr/>
          <p:nvPr/>
        </p:nvSpPr>
        <p:spPr bwMode="auto">
          <a:xfrm>
            <a:off x="6309360" y="3438144"/>
            <a:ext cx="128016" cy="12801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973977122" name="Text 28"/>
          <p:cNvSpPr/>
          <p:nvPr/>
        </p:nvSpPr>
        <p:spPr bwMode="auto">
          <a:xfrm>
            <a:off x="6528816" y="3337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Mises à jour fréquentes → breaking changes possibles</a:t>
            </a:r>
            <a:endParaRPr lang="en-US" sz="950"/>
          </a:p>
        </p:txBody>
      </p:sp>
      <p:sp>
        <p:nvSpPr>
          <p:cNvPr id="984126730" name="Shape 29"/>
          <p:cNvSpPr/>
          <p:nvPr/>
        </p:nvSpPr>
        <p:spPr bwMode="auto">
          <a:xfrm>
            <a:off x="201168" y="4709160"/>
            <a:ext cx="8741664" cy="32004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5809819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20040" y="4754880"/>
            <a:ext cx="228600" cy="228600"/>
          </a:xfrm>
          <a:prstGeom prst="rect">
            <a:avLst/>
          </a:prstGeom>
        </p:spPr>
      </p:pic>
      <p:sp>
        <p:nvSpPr>
          <p:cNvPr id="1973715729" name="Text 30"/>
          <p:cNvSpPr/>
          <p:nvPr/>
        </p:nvSpPr>
        <p:spPr bwMode="auto">
          <a:xfrm>
            <a:off x="621792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Open WebUI reste le meilleur choix open-source pour un LLM local avec UI riche — idéal R&amp;D, académique et entreprise avec données sensibles.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594932" name="Shape 0"/>
          <p:cNvSpPr/>
          <p:nvPr/>
        </p:nvSpPr>
        <p:spPr bwMode="auto"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0754140" name="Shape 1"/>
          <p:cNvSpPr/>
          <p:nvPr/>
        </p:nvSpPr>
        <p:spPr bwMode="auto">
          <a:xfrm>
            <a:off x="6583680" y="-45720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65036934" name="Shape 2"/>
          <p:cNvSpPr/>
          <p:nvPr/>
        </p:nvSpPr>
        <p:spPr bwMode="auto">
          <a:xfrm>
            <a:off x="7315200" y="3200400"/>
            <a:ext cx="1828800" cy="1828800"/>
          </a:xfrm>
          <a:prstGeom prst="ellipse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115553354" name="Text 3"/>
          <p:cNvSpPr/>
          <p:nvPr/>
        </p:nvSpPr>
        <p:spPr bwMode="auto">
          <a:xfrm>
            <a:off x="594360" y="4114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3800"/>
          </a:p>
        </p:txBody>
      </p:sp>
      <p:sp>
        <p:nvSpPr>
          <p:cNvPr id="2018162896" name="Shape 4"/>
          <p:cNvSpPr/>
          <p:nvPr/>
        </p:nvSpPr>
        <p:spPr bwMode="auto">
          <a:xfrm>
            <a:off x="594360" y="1078992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4522066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4360" y="1280160"/>
            <a:ext cx="274320" cy="274320"/>
          </a:xfrm>
          <a:prstGeom prst="rect">
            <a:avLst/>
          </a:prstGeom>
        </p:spPr>
      </p:pic>
      <p:sp>
        <p:nvSpPr>
          <p:cNvPr id="767347537" name="Text 5"/>
          <p:cNvSpPr/>
          <p:nvPr/>
        </p:nvSpPr>
        <p:spPr bwMode="auto">
          <a:xfrm>
            <a:off x="960120" y="125272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Interface LLM complète, open-source et self-hosted</a:t>
            </a:r>
            <a:endParaRPr lang="en-US" sz="1200"/>
          </a:p>
        </p:txBody>
      </p:sp>
      <p:pic>
        <p:nvPicPr>
          <p:cNvPr id="63915163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4360" y="1773936"/>
            <a:ext cx="274320" cy="274320"/>
          </a:xfrm>
          <a:prstGeom prst="rect">
            <a:avLst/>
          </a:prstGeom>
        </p:spPr>
      </p:pic>
      <p:sp>
        <p:nvSpPr>
          <p:cNvPr id="1614374761" name="Text 6"/>
          <p:cNvSpPr/>
          <p:nvPr/>
        </p:nvSpPr>
        <p:spPr bwMode="auto">
          <a:xfrm>
            <a:off x="960120" y="174650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Support RAG avancé, plugins Python et multi-modèles</a:t>
            </a:r>
            <a:endParaRPr lang="en-US" sz="1200"/>
          </a:p>
        </p:txBody>
      </p:sp>
      <p:pic>
        <p:nvPicPr>
          <p:cNvPr id="2084211457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94360" y="2267712"/>
            <a:ext cx="274320" cy="274320"/>
          </a:xfrm>
          <a:prstGeom prst="rect">
            <a:avLst/>
          </a:prstGeom>
        </p:spPr>
      </p:pic>
      <p:sp>
        <p:nvSpPr>
          <p:cNvPr id="1397141542" name="Text 7"/>
          <p:cNvSpPr/>
          <p:nvPr/>
        </p:nvSpPr>
        <p:spPr bwMode="auto">
          <a:xfrm>
            <a:off x="960120" y="224028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Architecture moderne : FastAPI + SvelteKit + ChromaDB</a:t>
            </a:r>
            <a:endParaRPr lang="en-US" sz="1200"/>
          </a:p>
        </p:txBody>
      </p:sp>
      <p:pic>
        <p:nvPicPr>
          <p:cNvPr id="75068195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94360" y="2761488"/>
            <a:ext cx="274320" cy="274320"/>
          </a:xfrm>
          <a:prstGeom prst="rect">
            <a:avLst/>
          </a:prstGeom>
        </p:spPr>
      </p:pic>
      <p:sp>
        <p:nvSpPr>
          <p:cNvPr id="403935051" name="Text 8"/>
          <p:cNvSpPr/>
          <p:nvPr/>
        </p:nvSpPr>
        <p:spPr bwMode="auto">
          <a:xfrm>
            <a:off x="960120" y="273405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Déploiement Docker en 1 commande, backup trivial</a:t>
            </a:r>
            <a:endParaRPr lang="en-US" sz="1200"/>
          </a:p>
        </p:txBody>
      </p:sp>
      <p:pic>
        <p:nvPicPr>
          <p:cNvPr id="205961673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94360" y="3255264"/>
            <a:ext cx="274320" cy="274320"/>
          </a:xfrm>
          <a:prstGeom prst="rect">
            <a:avLst/>
          </a:prstGeom>
        </p:spPr>
      </p:pic>
      <p:sp>
        <p:nvSpPr>
          <p:cNvPr id="52142835" name="Text 9"/>
          <p:cNvSpPr/>
          <p:nvPr/>
        </p:nvSpPr>
        <p:spPr bwMode="auto">
          <a:xfrm>
            <a:off x="960120" y="322783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Idéal pour R&amp;D, enseignement et entreprise souveraine</a:t>
            </a:r>
            <a:endParaRPr lang="en-US" sz="1200"/>
          </a:p>
        </p:txBody>
      </p:sp>
      <p:sp>
        <p:nvSpPr>
          <p:cNvPr id="1477121569" name="Shape 10"/>
          <p:cNvSpPr/>
          <p:nvPr/>
        </p:nvSpPr>
        <p:spPr bwMode="auto">
          <a:xfrm>
            <a:off x="594360" y="3767328"/>
            <a:ext cx="7863840" cy="822960"/>
          </a:xfrm>
          <a:prstGeom prst="rect">
            <a:avLst/>
          </a:prstGeom>
          <a:solidFill>
            <a:srgbClr val="0D1A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64398802" name="Text 11"/>
          <p:cNvSpPr/>
          <p:nvPr/>
        </p:nvSpPr>
        <p:spPr bwMode="auto">
          <a:xfrm>
            <a:off x="749808" y="37673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📁  Branche Git :</a:t>
            </a:r>
            <a:endParaRPr lang="en-US" sz="1100"/>
          </a:p>
        </p:txBody>
      </p:sp>
      <p:sp>
        <p:nvSpPr>
          <p:cNvPr id="459022464" name="Text 12"/>
          <p:cNvSpPr/>
          <p:nvPr/>
        </p:nvSpPr>
        <p:spPr bwMode="auto">
          <a:xfrm>
            <a:off x="2697480" y="376732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prenom-nom/open-webui-use-cases</a:t>
            </a:r>
            <a:endParaRPr lang="en-US" sz="1300"/>
          </a:p>
        </p:txBody>
      </p:sp>
      <p:sp>
        <p:nvSpPr>
          <p:cNvPr id="1262642005" name="Text 13"/>
          <p:cNvSpPr/>
          <p:nvPr/>
        </p:nvSpPr>
        <p:spPr bwMode="auto">
          <a:xfrm>
            <a:off x="594360" y="47731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docs/  •  schema/  •  slides/  •  demo/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WebUI – Use Cases &amp; Architecture</dc:title>
  <dc:subject>PptxGenJS Presentation</dc:subject>
  <dc:creator>Open WebUI Presentation</dc:creator>
  <cp:lastModifiedBy/>
  <cp:revision>2</cp:revision>
  <dcterms:created xsi:type="dcterms:W3CDTF">2026-04-21T07:54:36Z</dcterms:created>
  <dcterms:modified xsi:type="dcterms:W3CDTF">2026-04-21T08:16:14Z</dcterms:modified>
</cp:coreProperties>
</file>